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731520" y="960120"/>
            <a:ext cx="2011680" cy="38100"/>
          </a:xfrm>
          <a:prstGeom prst="rect">
            <a:avLst/>
          </a:prstGeom>
          <a:solidFill>
            <a:srgbClr val="D6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234440"/>
            <a:ext cx="10698480" cy="2377440"/>
          </a:xfrm>
          <a:prstGeom prst="rect">
            <a:avLst/>
          </a:prstGeom>
          <a:noFill/>
        </p:spPr>
        <p:txBody>
          <a:bodyPr wrap="square">
            <a:spAutoFit/>
          </a:bodyPr>
          <a:lstStyle/>
          <a:p>
            <a:pPr algn="l">
              <a:spcAft>
                <a:spcPts val="400"/>
              </a:spcAft>
            </a:pPr>
            <a:r>
              <a:rPr sz="4600" b="1">
                <a:solidFill>
                  <a:srgbClr val="0B1017"/>
                </a:solidFill>
                <a:latin typeface="Helvetica Neue"/>
              </a:rPr>
              <a:t>RAKSHAK.VYUH</a:t>
            </a:r>
          </a:p>
          <a:p>
            <a:pPr algn="l">
              <a:spcAft>
                <a:spcPts val="2200"/>
              </a:spcAft>
            </a:pPr>
            <a:r>
              <a:rPr sz="2400" b="0">
                <a:solidFill>
                  <a:srgbClr val="D62B2B"/>
                </a:solidFill>
                <a:latin typeface="Helvetica Neue"/>
              </a:rPr>
              <a:t>Reads the handshake. Never the payload.</a:t>
            </a:r>
          </a:p>
          <a:p>
            <a:pPr algn="l">
              <a:spcAft>
                <a:spcPts val="800"/>
              </a:spcAft>
            </a:pPr>
            <a:r>
              <a:rPr sz="1700" b="0">
                <a:solidFill>
                  <a:srgbClr val="2B364B"/>
                </a:solidFill>
                <a:latin typeface="Helvetica Neue"/>
              </a:rPr>
              <a:t>An offline analyzer that assesses an IPsec tunnel from the control plane alone.</a:t>
            </a:r>
          </a:p>
          <a:p>
            <a:pPr algn="l">
              <a:spcAft>
                <a:spcPts val="0"/>
              </a:spcAft>
            </a:pPr>
            <a:r>
              <a:rPr sz="1400" b="0">
                <a:solidFill>
                  <a:srgbClr val="5A677B"/>
                </a:solidFill>
                <a:latin typeface="Helvetica Neue"/>
              </a:rPr>
              <a:t>Team Venom  ·  SIH26160  ·  NTRO</a:t>
            </a:r>
          </a:p>
        </p:txBody>
      </p:sp>
      <p:sp>
        <p:nvSpPr>
          <p:cNvPr id="4" name="TextBox 3"/>
          <p:cNvSpPr txBox="1"/>
          <p:nvPr/>
        </p:nvSpPr>
        <p:spPr>
          <a:xfrm>
            <a:off x="731520" y="4206240"/>
            <a:ext cx="10698480" cy="2011680"/>
          </a:xfrm>
          <a:prstGeom prst="rect">
            <a:avLst/>
          </a:prstGeom>
          <a:noFill/>
        </p:spPr>
        <p:txBody>
          <a:bodyPr wrap="square">
            <a:spAutoFit/>
          </a:bodyPr>
          <a:lstStyle/>
          <a:p>
            <a:pPr algn="l">
              <a:spcAft>
                <a:spcPts val="600"/>
              </a:spcAft>
            </a:pPr>
            <a:r>
              <a:rPr sz="1500" b="1">
                <a:solidFill>
                  <a:srgbClr val="0B1017"/>
                </a:solidFill>
                <a:latin typeface="Helvetica Neue"/>
              </a:rPr>
              <a:t>The problem</a:t>
            </a:r>
          </a:p>
          <a:p>
            <a:pPr algn="l">
              <a:spcAft>
                <a:spcPts val="1000"/>
              </a:spcAft>
            </a:pPr>
            <a:r>
              <a:rPr sz="1400" b="0">
                <a:solidFill>
                  <a:srgbClr val="2B364B"/>
                </a:solidFill>
                <a:latin typeface="Helvetica Neue"/>
              </a:rPr>
              <a:t>An encrypted tunnel looks healthy from inside. The negotiation that decided its ciphers, its key exchange and its rekey policy travelled in clear before the first byte of payload was protected, and that traffic is discarded by every tool that watches the data path.</a:t>
            </a:r>
          </a:p>
          <a:p>
            <a:pPr algn="l">
              <a:spcAft>
                <a:spcPts val="0"/>
              </a:spcAft>
            </a:pPr>
            <a:r>
              <a:rPr sz="1400" b="0">
                <a:solidFill>
                  <a:srgbClr val="2B364B"/>
                </a:solidFill>
                <a:latin typeface="Helvetica Neue"/>
              </a:rPr>
              <a:t>Teams and CERT-In assess tunnels by reading configuration files they were not given.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31520" y="548640"/>
            <a:ext cx="10698480" cy="640080"/>
          </a:xfrm>
          <a:prstGeom prst="rect">
            <a:avLst/>
          </a:prstGeom>
          <a:noFill/>
        </p:spPr>
        <p:txBody>
          <a:bodyPr wrap="square">
            <a:spAutoFit/>
          </a:bodyPr>
          <a:lstStyle/>
          <a:p>
            <a:pPr algn="l">
              <a:spcAft>
                <a:spcPts val="0"/>
              </a:spcAft>
            </a:pPr>
            <a:r>
              <a:rPr sz="3200" b="1">
                <a:solidFill>
                  <a:srgbClr val="0B1017"/>
                </a:solidFill>
                <a:latin typeface="Helvetica Neue"/>
              </a:rPr>
              <a:t>How it works</a:t>
            </a:r>
          </a:p>
        </p:txBody>
      </p:sp>
      <p:sp>
        <p:nvSpPr>
          <p:cNvPr id="3" name="Rectangle 2"/>
          <p:cNvSpPr/>
          <p:nvPr/>
        </p:nvSpPr>
        <p:spPr>
          <a:xfrm>
            <a:off x="731520" y="1143000"/>
            <a:ext cx="1463040" cy="381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2286000" cy="457200"/>
          </a:xfrm>
          <a:prstGeom prst="rect">
            <a:avLst/>
          </a:prstGeom>
          <a:noFill/>
        </p:spPr>
        <p:txBody>
          <a:bodyPr wrap="square">
            <a:spAutoFit/>
          </a:bodyPr>
          <a:lstStyle/>
          <a:p>
            <a:pPr algn="l">
              <a:spcAft>
                <a:spcPts val="0"/>
              </a:spcAft>
            </a:pPr>
            <a:r>
              <a:rPr sz="1600" b="1">
                <a:solidFill>
                  <a:srgbClr val="1F8A8A"/>
                </a:solidFill>
                <a:latin typeface="Helvetica Neue"/>
              </a:rPr>
              <a:t>1  Capture</a:t>
            </a:r>
          </a:p>
        </p:txBody>
      </p:sp>
      <p:sp>
        <p:nvSpPr>
          <p:cNvPr id="5" name="TextBox 4"/>
          <p:cNvSpPr txBox="1"/>
          <p:nvPr/>
        </p:nvSpPr>
        <p:spPr>
          <a:xfrm>
            <a:off x="3017520" y="1554480"/>
            <a:ext cx="8412480" cy="914400"/>
          </a:xfrm>
          <a:prstGeom prst="rect">
            <a:avLst/>
          </a:prstGeom>
          <a:noFill/>
        </p:spPr>
        <p:txBody>
          <a:bodyPr wrap="square">
            <a:spAutoFit/>
          </a:bodyPr>
          <a:lstStyle/>
          <a:p>
            <a:pPr algn="l">
              <a:spcAft>
                <a:spcPts val="0"/>
              </a:spcAft>
            </a:pPr>
            <a:r>
              <a:rPr sz="1300" b="0">
                <a:solidFill>
                  <a:srgbClr val="2B364B"/>
                </a:solidFill>
                <a:latin typeface="Helvetica Neue"/>
              </a:rPr>
              <a:t>A pcap file. No agent on the gateway, no traffic injection, no decryption key.</a:t>
            </a:r>
          </a:p>
        </p:txBody>
      </p:sp>
      <p:sp>
        <p:nvSpPr>
          <p:cNvPr id="6" name="TextBox 5"/>
          <p:cNvSpPr txBox="1"/>
          <p:nvPr/>
        </p:nvSpPr>
        <p:spPr>
          <a:xfrm>
            <a:off x="731520" y="2487168"/>
            <a:ext cx="2286000" cy="457200"/>
          </a:xfrm>
          <a:prstGeom prst="rect">
            <a:avLst/>
          </a:prstGeom>
          <a:noFill/>
        </p:spPr>
        <p:txBody>
          <a:bodyPr wrap="square">
            <a:spAutoFit/>
          </a:bodyPr>
          <a:lstStyle/>
          <a:p>
            <a:pPr algn="l">
              <a:spcAft>
                <a:spcPts val="0"/>
              </a:spcAft>
            </a:pPr>
            <a:r>
              <a:rPr sz="1600" b="1">
                <a:solidFill>
                  <a:srgbClr val="1F8A8A"/>
                </a:solidFill>
                <a:latin typeface="Helvetica Neue"/>
              </a:rPr>
              <a:t>2  CipherLens</a:t>
            </a:r>
          </a:p>
        </p:txBody>
      </p:sp>
      <p:sp>
        <p:nvSpPr>
          <p:cNvPr id="7" name="TextBox 6"/>
          <p:cNvSpPr txBox="1"/>
          <p:nvPr/>
        </p:nvSpPr>
        <p:spPr>
          <a:xfrm>
            <a:off x="3017520" y="2487168"/>
            <a:ext cx="8412480" cy="914400"/>
          </a:xfrm>
          <a:prstGeom prst="rect">
            <a:avLst/>
          </a:prstGeom>
          <a:noFill/>
        </p:spPr>
        <p:txBody>
          <a:bodyPr wrap="square">
            <a:spAutoFit/>
          </a:bodyPr>
          <a:lstStyle/>
          <a:p>
            <a:pPr algn="l">
              <a:spcAft>
                <a:spcPts val="0"/>
              </a:spcAft>
            </a:pPr>
            <a:r>
              <a:rPr sz="1300" b="0">
                <a:solidFill>
                  <a:srgbClr val="2B364B"/>
                </a:solidFill>
                <a:latin typeface="Helvetica Neue"/>
              </a:rPr>
              <a:t>A from-scratch IKEv1 and IKEv2 dissector in Rust. Reads SA, KE, TS, ID, AUTH, NOTIFY and the nonce, including the length-framed substructures strongSwan actually sends.</a:t>
            </a:r>
          </a:p>
        </p:txBody>
      </p:sp>
      <p:sp>
        <p:nvSpPr>
          <p:cNvPr id="8" name="TextBox 7"/>
          <p:cNvSpPr txBox="1"/>
          <p:nvPr/>
        </p:nvSpPr>
        <p:spPr>
          <a:xfrm>
            <a:off x="731520" y="3419856"/>
            <a:ext cx="2286000" cy="457200"/>
          </a:xfrm>
          <a:prstGeom prst="rect">
            <a:avLst/>
          </a:prstGeom>
          <a:noFill/>
        </p:spPr>
        <p:txBody>
          <a:bodyPr wrap="square">
            <a:spAutoFit/>
          </a:bodyPr>
          <a:lstStyle/>
          <a:p>
            <a:pPr algn="l">
              <a:spcAft>
                <a:spcPts val="0"/>
              </a:spcAft>
            </a:pPr>
            <a:r>
              <a:rPr sz="1600" b="1">
                <a:solidFill>
                  <a:srgbClr val="1F8A8A"/>
                </a:solidFill>
                <a:latin typeface="Helvetica Neue"/>
              </a:rPr>
              <a:t>3  AttackMap</a:t>
            </a:r>
          </a:p>
        </p:txBody>
      </p:sp>
      <p:sp>
        <p:nvSpPr>
          <p:cNvPr id="9" name="TextBox 8"/>
          <p:cNvSpPr txBox="1"/>
          <p:nvPr/>
        </p:nvSpPr>
        <p:spPr>
          <a:xfrm>
            <a:off x="3017520" y="3419856"/>
            <a:ext cx="8412480" cy="914400"/>
          </a:xfrm>
          <a:prstGeom prst="rect">
            <a:avLst/>
          </a:prstGeom>
          <a:noFill/>
        </p:spPr>
        <p:txBody>
          <a:bodyPr wrap="square">
            <a:spAutoFit/>
          </a:bodyPr>
          <a:lstStyle/>
          <a:p>
            <a:pPr algn="l">
              <a:spcAft>
                <a:spcPts val="0"/>
              </a:spcAft>
            </a:pPr>
            <a:r>
              <a:rPr sz="1300" b="0">
                <a:solidFill>
                  <a:srgbClr val="2B364B"/>
                </a:solidFill>
                <a:latin typeface="Helvetica Neue"/>
              </a:rPr>
              <a:t>Every negotiated suite is checked against RFC 8247, RFC 8221 and NIST SP 800-131A. Findings are rules, not opinions.</a:t>
            </a:r>
          </a:p>
        </p:txBody>
      </p:sp>
      <p:sp>
        <p:nvSpPr>
          <p:cNvPr id="10" name="TextBox 9"/>
          <p:cNvSpPr txBox="1"/>
          <p:nvPr/>
        </p:nvSpPr>
        <p:spPr>
          <a:xfrm>
            <a:off x="731520" y="4352544"/>
            <a:ext cx="2286000" cy="457200"/>
          </a:xfrm>
          <a:prstGeom prst="rect">
            <a:avLst/>
          </a:prstGeom>
          <a:noFill/>
        </p:spPr>
        <p:txBody>
          <a:bodyPr wrap="square">
            <a:spAutoFit/>
          </a:bodyPr>
          <a:lstStyle/>
          <a:p>
            <a:pPr algn="l">
              <a:spcAft>
                <a:spcPts val="0"/>
              </a:spcAft>
            </a:pPr>
            <a:r>
              <a:rPr sz="1600" b="1">
                <a:solidFill>
                  <a:srgbClr val="1F8A8A"/>
                </a:solidFill>
                <a:latin typeface="Helvetica Neue"/>
              </a:rPr>
              <a:t>4  Evidence Ledger</a:t>
            </a:r>
          </a:p>
        </p:txBody>
      </p:sp>
      <p:sp>
        <p:nvSpPr>
          <p:cNvPr id="11" name="TextBox 10"/>
          <p:cNvSpPr txBox="1"/>
          <p:nvPr/>
        </p:nvSpPr>
        <p:spPr>
          <a:xfrm>
            <a:off x="3017520" y="4352544"/>
            <a:ext cx="8412480" cy="914400"/>
          </a:xfrm>
          <a:prstGeom prst="rect">
            <a:avLst/>
          </a:prstGeom>
          <a:noFill/>
        </p:spPr>
        <p:txBody>
          <a:bodyPr wrap="square">
            <a:spAutoFit/>
          </a:bodyPr>
          <a:lstStyle/>
          <a:p>
            <a:pPr algn="l">
              <a:spcAft>
                <a:spcPts val="0"/>
              </a:spcAft>
            </a:pPr>
            <a:r>
              <a:rPr sz="1300" b="0">
                <a:solidFill>
                  <a:srgbClr val="2B364B"/>
                </a:solidFill>
                <a:latin typeface="Helvetica Neue"/>
              </a:rPr>
              <a:t>Each finding is bound to a packet number and a SHA-256 chain over the capture, so any claim can be re-derived from the file.</a:t>
            </a:r>
          </a:p>
        </p:txBody>
      </p:sp>
      <p:sp>
        <p:nvSpPr>
          <p:cNvPr id="12" name="TextBox 11"/>
          <p:cNvSpPr txBox="1"/>
          <p:nvPr/>
        </p:nvSpPr>
        <p:spPr>
          <a:xfrm>
            <a:off x="731520" y="5285232"/>
            <a:ext cx="2286000" cy="457200"/>
          </a:xfrm>
          <a:prstGeom prst="rect">
            <a:avLst/>
          </a:prstGeom>
          <a:noFill/>
        </p:spPr>
        <p:txBody>
          <a:bodyPr wrap="square">
            <a:spAutoFit/>
          </a:bodyPr>
          <a:lstStyle/>
          <a:p>
            <a:pPr algn="l">
              <a:spcAft>
                <a:spcPts val="0"/>
              </a:spcAft>
            </a:pPr>
            <a:r>
              <a:rPr sz="1600" b="1">
                <a:solidFill>
                  <a:srgbClr val="1F8A8A"/>
                </a:solidFill>
                <a:latin typeface="Helvetica Neue"/>
              </a:rPr>
              <a:t>5  Report</a:t>
            </a:r>
          </a:p>
        </p:txBody>
      </p:sp>
      <p:sp>
        <p:nvSpPr>
          <p:cNvPr id="13" name="TextBox 12"/>
          <p:cNvSpPr txBox="1"/>
          <p:nvPr/>
        </p:nvSpPr>
        <p:spPr>
          <a:xfrm>
            <a:off x="3017520" y="5285232"/>
            <a:ext cx="8412480" cy="914400"/>
          </a:xfrm>
          <a:prstGeom prst="rect">
            <a:avLst/>
          </a:prstGeom>
          <a:noFill/>
        </p:spPr>
        <p:txBody>
          <a:bodyPr wrap="square">
            <a:spAutoFit/>
          </a:bodyPr>
          <a:lstStyle/>
          <a:p>
            <a:pPr algn="l">
              <a:spcAft>
                <a:spcPts val="0"/>
              </a:spcAft>
            </a:pPr>
            <a:r>
              <a:rPr sz="1300" b="0">
                <a:solidFill>
                  <a:srgbClr val="2B364B"/>
                </a:solidFill>
                <a:latin typeface="Helvetica Neue"/>
              </a:rPr>
              <a:t>JSON, HTML, a CycloneDX CBOM, and swanctl remediation fragments that fix what was found.</a:t>
            </a:r>
          </a:p>
        </p:txBody>
      </p:sp>
      <p:sp>
        <p:nvSpPr>
          <p:cNvPr id="14" name="TextBox 13"/>
          <p:cNvSpPr txBox="1"/>
          <p:nvPr/>
        </p:nvSpPr>
        <p:spPr>
          <a:xfrm>
            <a:off x="731520" y="6263640"/>
            <a:ext cx="10698480" cy="457200"/>
          </a:xfrm>
          <a:prstGeom prst="rect">
            <a:avLst/>
          </a:prstGeom>
          <a:noFill/>
        </p:spPr>
        <p:txBody>
          <a:bodyPr wrap="square">
            <a:spAutoFit/>
          </a:bodyPr>
          <a:lstStyle/>
          <a:p>
            <a:pPr algn="l">
              <a:spcAft>
                <a:spcPts val="0"/>
              </a:spcAft>
            </a:pPr>
            <a:r>
              <a:rPr sz="1300" b="1">
                <a:solidFill>
                  <a:srgbClr val="D62B2B"/>
                </a:solidFill>
                <a:latin typeface="Helvetica Neue"/>
              </a:rPr>
              <a:t>Passive by construction. There is no code path in the engine that decrypts, injects or transmits.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31520" y="502920"/>
            <a:ext cx="10698480" cy="640080"/>
          </a:xfrm>
          <a:prstGeom prst="rect">
            <a:avLst/>
          </a:prstGeom>
          <a:noFill/>
        </p:spPr>
        <p:txBody>
          <a:bodyPr wrap="square">
            <a:spAutoFit/>
          </a:bodyPr>
          <a:lstStyle/>
          <a:p>
            <a:pPr algn="l">
              <a:spcAft>
                <a:spcPts val="0"/>
              </a:spcAft>
            </a:pPr>
            <a:r>
              <a:rPr sz="3000" b="1">
                <a:solidFill>
                  <a:srgbClr val="0B1017"/>
                </a:solidFill>
                <a:latin typeface="Helvetica Neue"/>
              </a:rPr>
              <a:t>A corpus built from real gateways, not synthesised</a:t>
            </a:r>
          </a:p>
        </p:txBody>
      </p:sp>
      <p:sp>
        <p:nvSpPr>
          <p:cNvPr id="3" name="Rectangle 2"/>
          <p:cNvSpPr/>
          <p:nvPr/>
        </p:nvSpPr>
        <p:spPr>
          <a:xfrm>
            <a:off x="731520" y="1097280"/>
            <a:ext cx="1463040" cy="381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463040"/>
          <a:ext cx="9784080" cy="3730752"/>
        </p:xfrm>
        <a:graphic>
          <a:graphicData uri="http://schemas.openxmlformats.org/drawingml/2006/table">
            <a:tbl>
              <a:tblPr firstRow="1" bandRow="1">
                <a:tableStyleId>{5C22544A-7EE6-4342-B048-85BDC9FD1C3A}</a:tableStyleId>
              </a:tblPr>
              <a:tblGrid>
                <a:gridCol w="3200400"/>
                <a:gridCol w="1188720"/>
                <a:gridCol w="1280160"/>
                <a:gridCol w="914400"/>
                <a:gridCol w="914400"/>
                <a:gridCol w="914400"/>
                <a:gridCol w="1371600"/>
              </a:tblGrid>
              <a:tr h="310896">
                <a:tc>
                  <a:txBody>
                    <a:bodyPr/>
                    <a:lstStyle/>
                    <a:p>
                      <a:r>
                        <a:rPr sz="1100" b="1">
                          <a:solidFill>
                            <a:srgbClr val="FFFFFF"/>
                          </a:solidFill>
                          <a:latin typeface="Helvetica Neue"/>
                        </a:rPr>
                        <a:t>Tunnel</a:t>
                      </a:r>
                    </a:p>
                  </a:txBody>
                  <a:tcPr>
                    <a:solidFill>
                      <a:srgbClr val="2B364B"/>
                    </a:solidFill>
                  </a:tcPr>
                </a:tc>
                <a:tc>
                  <a:txBody>
                    <a:bodyPr/>
                    <a:lstStyle/>
                    <a:p>
                      <a:r>
                        <a:rPr sz="1100" b="1">
                          <a:solidFill>
                            <a:srgbClr val="FFFFFF"/>
                          </a:solidFill>
                          <a:latin typeface="Helvetica Neue"/>
                        </a:rPr>
                        <a:t>Packets</a:t>
                      </a:r>
                    </a:p>
                  </a:txBody>
                  <a:tcPr>
                    <a:solidFill>
                      <a:srgbClr val="2B364B"/>
                    </a:solidFill>
                  </a:tcPr>
                </a:tc>
                <a:tc>
                  <a:txBody>
                    <a:bodyPr/>
                    <a:lstStyle/>
                    <a:p>
                      <a:r>
                        <a:rPr sz="1100" b="1">
                          <a:solidFill>
                            <a:srgbClr val="FFFFFF"/>
                          </a:solidFill>
                          <a:latin typeface="Helvetica Neue"/>
                        </a:rPr>
                        <a:t>ESP flows</a:t>
                      </a:r>
                    </a:p>
                  </a:txBody>
                  <a:tcPr>
                    <a:solidFill>
                      <a:srgbClr val="2B364B"/>
                    </a:solidFill>
                  </a:tcPr>
                </a:tc>
                <a:tc>
                  <a:txBody>
                    <a:bodyPr/>
                    <a:lstStyle/>
                    <a:p>
                      <a:r>
                        <a:rPr sz="1100" b="1">
                          <a:solidFill>
                            <a:srgbClr val="FFFFFF"/>
                          </a:solidFill>
                          <a:latin typeface="Helvetica Neue"/>
                        </a:rPr>
                        <a:t>IKE</a:t>
                      </a:r>
                    </a:p>
                  </a:txBody>
                  <a:tcPr>
                    <a:solidFill>
                      <a:srgbClr val="2B364B"/>
                    </a:solidFill>
                  </a:tcPr>
                </a:tc>
                <a:tc>
                  <a:txBody>
                    <a:bodyPr/>
                    <a:lstStyle/>
                    <a:p>
                      <a:r>
                        <a:rPr sz="1100" b="1">
                          <a:solidFill>
                            <a:srgbClr val="FFFFFF"/>
                          </a:solidFill>
                          <a:latin typeface="Helvetica Neue"/>
                        </a:rPr>
                        <a:t>Grade</a:t>
                      </a:r>
                    </a:p>
                  </a:txBody>
                  <a:tcPr>
                    <a:solidFill>
                      <a:srgbClr val="2B364B"/>
                    </a:solidFill>
                  </a:tcPr>
                </a:tc>
                <a:tc>
                  <a:txBody>
                    <a:bodyPr/>
                    <a:lstStyle/>
                    <a:p>
                      <a:r>
                        <a:rPr sz="1100" b="1">
                          <a:solidFill>
                            <a:srgbClr val="FFFFFF"/>
                          </a:solidFill>
                          <a:latin typeface="Helvetica Neue"/>
                        </a:rPr>
                        <a:t>Score</a:t>
                      </a:r>
                    </a:p>
                  </a:txBody>
                  <a:tcPr>
                    <a:solidFill>
                      <a:srgbClr val="2B364B"/>
                    </a:solidFill>
                  </a:tcPr>
                </a:tc>
                <a:tc>
                  <a:txBody>
                    <a:bodyPr/>
                    <a:lstStyle/>
                    <a:p>
                      <a:r>
                        <a:rPr sz="1100" b="1">
                          <a:solidFill>
                            <a:srgbClr val="FFFFFF"/>
                          </a:solidFill>
                          <a:latin typeface="Helvetica Neue"/>
                        </a:rPr>
                        <a:t>Findings</a:t>
                      </a:r>
                    </a:p>
                  </a:txBody>
                  <a:tcPr>
                    <a:solidFill>
                      <a:srgbClr val="2B364B"/>
                    </a:solidFill>
                  </a:tcPr>
                </a:tc>
              </a:tr>
              <a:tr h="310896">
                <a:tc>
                  <a:txBody>
                    <a:bodyPr/>
                    <a:lstStyle/>
                    <a:p>
                      <a:r>
                        <a:rPr sz="1100" b="1">
                          <a:solidFill>
                            <a:srgbClr val="0B1017"/>
                          </a:solidFill>
                          <a:latin typeface="Helvetica Neue"/>
                        </a:rPr>
                        <a:t>ikev1-aggressive-3des</a:t>
                      </a:r>
                    </a:p>
                  </a:txBody>
                  <a:tcPr>
                    <a:solidFill>
                      <a:srgbClr val="FFFFFF"/>
                    </a:solidFill>
                  </a:tcPr>
                </a:tc>
                <a:tc>
                  <a:txBody>
                    <a:bodyPr/>
                    <a:lstStyle/>
                    <a:p>
                      <a:r>
                        <a:rPr sz="1100" b="0">
                          <a:solidFill>
                            <a:srgbClr val="0B1017"/>
                          </a:solidFill>
                          <a:latin typeface="Helvetica Neue"/>
                        </a:rPr>
                        <a:t>36</a:t>
                      </a:r>
                    </a:p>
                  </a:txBody>
                  <a:tcPr>
                    <a:solidFill>
                      <a:srgbClr val="FFFFFF"/>
                    </a:solidFill>
                  </a:tcPr>
                </a:tc>
                <a:tc>
                  <a:txBody>
                    <a:bodyPr/>
                    <a:lstStyle/>
                    <a:p>
                      <a:r>
                        <a:rPr sz="1100" b="0">
                          <a:solidFill>
                            <a:srgbClr val="0B1017"/>
                          </a:solidFill>
                          <a:latin typeface="Helvetica Neue"/>
                        </a:rPr>
                        <a:t>0</a:t>
                      </a:r>
                    </a:p>
                  </a:txBody>
                  <a:tcPr>
                    <a:solidFill>
                      <a:srgbClr val="FFFFFF"/>
                    </a:solidFill>
                  </a:tcPr>
                </a:tc>
                <a:tc>
                  <a:txBody>
                    <a:bodyPr/>
                    <a:lstStyle/>
                    <a:p>
                      <a:r>
                        <a:rPr sz="1100" b="0">
                          <a:solidFill>
                            <a:srgbClr val="0B1017"/>
                          </a:solidFill>
                          <a:latin typeface="Helvetica Neue"/>
                        </a:rPr>
                        <a:t>36</a:t>
                      </a:r>
                    </a:p>
                  </a:txBody>
                  <a:tcPr>
                    <a:solidFill>
                      <a:srgbClr val="FFFFFF"/>
                    </a:solidFill>
                  </a:tcPr>
                </a:tc>
                <a:tc>
                  <a:txBody>
                    <a:bodyPr/>
                    <a:lstStyle/>
                    <a:p>
                      <a:r>
                        <a:rPr sz="1100" b="0">
                          <a:solidFill>
                            <a:srgbClr val="0B1017"/>
                          </a:solidFill>
                          <a:latin typeface="Helvetica Neue"/>
                        </a:rPr>
                        <a:t>F</a:t>
                      </a:r>
                    </a:p>
                  </a:txBody>
                  <a:tcPr>
                    <a:solidFill>
                      <a:srgbClr val="FFFFFF"/>
                    </a:solidFill>
                  </a:tcPr>
                </a:tc>
                <a:tc>
                  <a:txBody>
                    <a:bodyPr/>
                    <a:lstStyle/>
                    <a:p>
                      <a:r>
                        <a:rPr sz="1100" b="0">
                          <a:solidFill>
                            <a:srgbClr val="0B1017"/>
                          </a:solidFill>
                          <a:latin typeface="Helvetica Neue"/>
                        </a:rPr>
                        <a:t>0</a:t>
                      </a:r>
                    </a:p>
                  </a:txBody>
                  <a:tcPr>
                    <a:solidFill>
                      <a:srgbClr val="FFFFFF"/>
                    </a:solidFill>
                  </a:tcPr>
                </a:tc>
                <a:tc>
                  <a:txBody>
                    <a:bodyPr/>
                    <a:lstStyle/>
                    <a:p>
                      <a:r>
                        <a:rPr sz="1100" b="0">
                          <a:solidFill>
                            <a:srgbClr val="0B1017"/>
                          </a:solidFill>
                          <a:latin typeface="Helvetica Neue"/>
                        </a:rPr>
                        <a:t>8</a:t>
                      </a:r>
                    </a:p>
                  </a:txBody>
                  <a:tcPr>
                    <a:solidFill>
                      <a:srgbClr val="FFFFFF"/>
                    </a:solidFill>
                  </a:tcPr>
                </a:tc>
              </a:tr>
              <a:tr h="310896">
                <a:tc>
                  <a:txBody>
                    <a:bodyPr/>
                    <a:lstStyle/>
                    <a:p>
                      <a:r>
                        <a:rPr sz="1100" b="1">
                          <a:solidFill>
                            <a:srgbClr val="0B1017"/>
                          </a:solidFill>
                          <a:latin typeface="Helvetica Neue"/>
                        </a:rPr>
                        <a:t>ikev1-aggressive-dh2048</a:t>
                      </a:r>
                    </a:p>
                  </a:txBody>
                  <a:tcPr>
                    <a:solidFill>
                      <a:srgbClr val="EEF2F6"/>
                    </a:solidFill>
                  </a:tcPr>
                </a:tc>
                <a:tc>
                  <a:txBody>
                    <a:bodyPr/>
                    <a:lstStyle/>
                    <a:p>
                      <a:r>
                        <a:rPr sz="1100" b="0">
                          <a:solidFill>
                            <a:srgbClr val="0B1017"/>
                          </a:solidFill>
                          <a:latin typeface="Helvetica Neue"/>
                        </a:rPr>
                        <a:t>36</a:t>
                      </a:r>
                    </a:p>
                  </a:txBody>
                  <a:tcPr>
                    <a:solidFill>
                      <a:srgbClr val="EEF2F6"/>
                    </a:solidFill>
                  </a:tcPr>
                </a:tc>
                <a:tc>
                  <a:txBody>
                    <a:bodyPr/>
                    <a:lstStyle/>
                    <a:p>
                      <a:r>
                        <a:rPr sz="1100" b="0">
                          <a:solidFill>
                            <a:srgbClr val="0B1017"/>
                          </a:solidFill>
                          <a:latin typeface="Helvetica Neue"/>
                        </a:rPr>
                        <a:t>0</a:t>
                      </a:r>
                    </a:p>
                  </a:txBody>
                  <a:tcPr>
                    <a:solidFill>
                      <a:srgbClr val="EEF2F6"/>
                    </a:solidFill>
                  </a:tcPr>
                </a:tc>
                <a:tc>
                  <a:txBody>
                    <a:bodyPr/>
                    <a:lstStyle/>
                    <a:p>
                      <a:r>
                        <a:rPr sz="1100" b="0">
                          <a:solidFill>
                            <a:srgbClr val="0B1017"/>
                          </a:solidFill>
                          <a:latin typeface="Helvetica Neue"/>
                        </a:rPr>
                        <a:t>36</a:t>
                      </a:r>
                    </a:p>
                  </a:txBody>
                  <a:tcPr>
                    <a:solidFill>
                      <a:srgbClr val="EEF2F6"/>
                    </a:solidFill>
                  </a:tcPr>
                </a:tc>
                <a:tc>
                  <a:txBody>
                    <a:bodyPr/>
                    <a:lstStyle/>
                    <a:p>
                      <a:r>
                        <a:rPr sz="1100" b="0">
                          <a:solidFill>
                            <a:srgbClr val="0B1017"/>
                          </a:solidFill>
                          <a:latin typeface="Helvetica Neue"/>
                        </a:rPr>
                        <a:t>F</a:t>
                      </a:r>
                    </a:p>
                  </a:txBody>
                  <a:tcPr>
                    <a:solidFill>
                      <a:srgbClr val="EEF2F6"/>
                    </a:solidFill>
                  </a:tcPr>
                </a:tc>
                <a:tc>
                  <a:txBody>
                    <a:bodyPr/>
                    <a:lstStyle/>
                    <a:p>
                      <a:r>
                        <a:rPr sz="1100" b="0">
                          <a:solidFill>
                            <a:srgbClr val="0B1017"/>
                          </a:solidFill>
                          <a:latin typeface="Helvetica Neue"/>
                        </a:rPr>
                        <a:t>0</a:t>
                      </a:r>
                    </a:p>
                  </a:txBody>
                  <a:tcPr>
                    <a:solidFill>
                      <a:srgbClr val="EEF2F6"/>
                    </a:solidFill>
                  </a:tcPr>
                </a:tc>
                <a:tc>
                  <a:txBody>
                    <a:bodyPr/>
                    <a:lstStyle/>
                    <a:p>
                      <a:r>
                        <a:rPr sz="1100" b="0">
                          <a:solidFill>
                            <a:srgbClr val="0B1017"/>
                          </a:solidFill>
                          <a:latin typeface="Helvetica Neue"/>
                        </a:rPr>
                        <a:t>7</a:t>
                      </a:r>
                    </a:p>
                  </a:txBody>
                  <a:tcPr>
                    <a:solidFill>
                      <a:srgbClr val="EEF2F6"/>
                    </a:solidFill>
                  </a:tcPr>
                </a:tc>
              </a:tr>
              <a:tr h="310896">
                <a:tc>
                  <a:txBody>
                    <a:bodyPr/>
                    <a:lstStyle/>
                    <a:p>
                      <a:r>
                        <a:rPr sz="1100" b="1">
                          <a:solidFill>
                            <a:srgbClr val="0B1017"/>
                          </a:solidFill>
                          <a:latin typeface="Helvetica Neue"/>
                        </a:rPr>
                        <a:t>ikev1-main-mode-3des</a:t>
                      </a:r>
                    </a:p>
                  </a:txBody>
                  <a:tcPr>
                    <a:solidFill>
                      <a:srgbClr val="FFFFFF"/>
                    </a:solidFill>
                  </a:tcPr>
                </a:tc>
                <a:tc>
                  <a:txBody>
                    <a:bodyPr/>
                    <a:lstStyle/>
                    <a:p>
                      <a:r>
                        <a:rPr sz="1100" b="0">
                          <a:solidFill>
                            <a:srgbClr val="0B1017"/>
                          </a:solidFill>
                          <a:latin typeface="Helvetica Neue"/>
                        </a:rPr>
                        <a:t>50</a:t>
                      </a:r>
                    </a:p>
                  </a:txBody>
                  <a:tcPr>
                    <a:solidFill>
                      <a:srgbClr val="FFFFFF"/>
                    </a:solidFill>
                  </a:tcPr>
                </a:tc>
                <a:tc>
                  <a:txBody>
                    <a:bodyPr/>
                    <a:lstStyle/>
                    <a:p>
                      <a:r>
                        <a:rPr sz="1100" b="0">
                          <a:solidFill>
                            <a:srgbClr val="0B1017"/>
                          </a:solidFill>
                          <a:latin typeface="Helvetica Neue"/>
                        </a:rPr>
                        <a:t>0</a:t>
                      </a:r>
                    </a:p>
                  </a:txBody>
                  <a:tcPr>
                    <a:solidFill>
                      <a:srgbClr val="FFFFFF"/>
                    </a:solidFill>
                  </a:tcPr>
                </a:tc>
                <a:tc>
                  <a:txBody>
                    <a:bodyPr/>
                    <a:lstStyle/>
                    <a:p>
                      <a:r>
                        <a:rPr sz="1100" b="0">
                          <a:solidFill>
                            <a:srgbClr val="0B1017"/>
                          </a:solidFill>
                          <a:latin typeface="Helvetica Neue"/>
                        </a:rPr>
                        <a:t>50</a:t>
                      </a:r>
                    </a:p>
                  </a:txBody>
                  <a:tcPr>
                    <a:solidFill>
                      <a:srgbClr val="FFFFFF"/>
                    </a:solidFill>
                  </a:tcPr>
                </a:tc>
                <a:tc>
                  <a:txBody>
                    <a:bodyPr/>
                    <a:lstStyle/>
                    <a:p>
                      <a:r>
                        <a:rPr sz="1100" b="0">
                          <a:solidFill>
                            <a:srgbClr val="0B1017"/>
                          </a:solidFill>
                          <a:latin typeface="Helvetica Neue"/>
                        </a:rPr>
                        <a:t>F</a:t>
                      </a:r>
                    </a:p>
                  </a:txBody>
                  <a:tcPr>
                    <a:solidFill>
                      <a:srgbClr val="FFFFFF"/>
                    </a:solidFill>
                  </a:tcPr>
                </a:tc>
                <a:tc>
                  <a:txBody>
                    <a:bodyPr/>
                    <a:lstStyle/>
                    <a:p>
                      <a:r>
                        <a:rPr sz="1100" b="0">
                          <a:solidFill>
                            <a:srgbClr val="0B1017"/>
                          </a:solidFill>
                          <a:latin typeface="Helvetica Neue"/>
                        </a:rPr>
                        <a:t>0</a:t>
                      </a:r>
                    </a:p>
                  </a:txBody>
                  <a:tcPr>
                    <a:solidFill>
                      <a:srgbClr val="FFFFFF"/>
                    </a:solidFill>
                  </a:tcPr>
                </a:tc>
                <a:tc>
                  <a:txBody>
                    <a:bodyPr/>
                    <a:lstStyle/>
                    <a:p>
                      <a:r>
                        <a:rPr sz="1100" b="0">
                          <a:solidFill>
                            <a:srgbClr val="0B1017"/>
                          </a:solidFill>
                          <a:latin typeface="Helvetica Neue"/>
                        </a:rPr>
                        <a:t>7</a:t>
                      </a:r>
                    </a:p>
                  </a:txBody>
                  <a:tcPr>
                    <a:solidFill>
                      <a:srgbClr val="FFFFFF"/>
                    </a:solidFill>
                  </a:tcPr>
                </a:tc>
              </a:tr>
              <a:tr h="310896">
                <a:tc>
                  <a:txBody>
                    <a:bodyPr/>
                    <a:lstStyle/>
                    <a:p>
                      <a:r>
                        <a:rPr sz="1100" b="1">
                          <a:solidFill>
                            <a:srgbClr val="0B1017"/>
                          </a:solidFill>
                          <a:latin typeface="Helvetica Neue"/>
                        </a:rPr>
                        <a:t>ikev1-main-mode-des</a:t>
                      </a:r>
                    </a:p>
                  </a:txBody>
                  <a:tcPr>
                    <a:solidFill>
                      <a:srgbClr val="EEF2F6"/>
                    </a:solidFill>
                  </a:tcPr>
                </a:tc>
                <a:tc>
                  <a:txBody>
                    <a:bodyPr/>
                    <a:lstStyle/>
                    <a:p>
                      <a:r>
                        <a:rPr sz="1100" b="0">
                          <a:solidFill>
                            <a:srgbClr val="0B1017"/>
                          </a:solidFill>
                          <a:latin typeface="Helvetica Neue"/>
                        </a:rPr>
                        <a:t>46</a:t>
                      </a:r>
                    </a:p>
                  </a:txBody>
                  <a:tcPr>
                    <a:solidFill>
                      <a:srgbClr val="EEF2F6"/>
                    </a:solidFill>
                  </a:tcPr>
                </a:tc>
                <a:tc>
                  <a:txBody>
                    <a:bodyPr/>
                    <a:lstStyle/>
                    <a:p>
                      <a:r>
                        <a:rPr sz="1100" b="0">
                          <a:solidFill>
                            <a:srgbClr val="0B1017"/>
                          </a:solidFill>
                          <a:latin typeface="Helvetica Neue"/>
                        </a:rPr>
                        <a:t>0</a:t>
                      </a:r>
                    </a:p>
                  </a:txBody>
                  <a:tcPr>
                    <a:solidFill>
                      <a:srgbClr val="EEF2F6"/>
                    </a:solidFill>
                  </a:tcPr>
                </a:tc>
                <a:tc>
                  <a:txBody>
                    <a:bodyPr/>
                    <a:lstStyle/>
                    <a:p>
                      <a:r>
                        <a:rPr sz="1100" b="0">
                          <a:solidFill>
                            <a:srgbClr val="0B1017"/>
                          </a:solidFill>
                          <a:latin typeface="Helvetica Neue"/>
                        </a:rPr>
                        <a:t>46</a:t>
                      </a:r>
                    </a:p>
                  </a:txBody>
                  <a:tcPr>
                    <a:solidFill>
                      <a:srgbClr val="EEF2F6"/>
                    </a:solidFill>
                  </a:tcPr>
                </a:tc>
                <a:tc>
                  <a:txBody>
                    <a:bodyPr/>
                    <a:lstStyle/>
                    <a:p>
                      <a:r>
                        <a:rPr sz="1100" b="0">
                          <a:solidFill>
                            <a:srgbClr val="0B1017"/>
                          </a:solidFill>
                          <a:latin typeface="Helvetica Neue"/>
                        </a:rPr>
                        <a:t>F</a:t>
                      </a:r>
                    </a:p>
                  </a:txBody>
                  <a:tcPr>
                    <a:solidFill>
                      <a:srgbClr val="EEF2F6"/>
                    </a:solidFill>
                  </a:tcPr>
                </a:tc>
                <a:tc>
                  <a:txBody>
                    <a:bodyPr/>
                    <a:lstStyle/>
                    <a:p>
                      <a:r>
                        <a:rPr sz="1100" b="0">
                          <a:solidFill>
                            <a:srgbClr val="0B1017"/>
                          </a:solidFill>
                          <a:latin typeface="Helvetica Neue"/>
                        </a:rPr>
                        <a:t>0</a:t>
                      </a:r>
                    </a:p>
                  </a:txBody>
                  <a:tcPr>
                    <a:solidFill>
                      <a:srgbClr val="EEF2F6"/>
                    </a:solidFill>
                  </a:tcPr>
                </a:tc>
                <a:tc>
                  <a:txBody>
                    <a:bodyPr/>
                    <a:lstStyle/>
                    <a:p>
                      <a:r>
                        <a:rPr sz="1100" b="0">
                          <a:solidFill>
                            <a:srgbClr val="0B1017"/>
                          </a:solidFill>
                          <a:latin typeface="Helvetica Neue"/>
                        </a:rPr>
                        <a:t>7</a:t>
                      </a:r>
                    </a:p>
                  </a:txBody>
                  <a:tcPr>
                    <a:solidFill>
                      <a:srgbClr val="EEF2F6"/>
                    </a:solidFill>
                  </a:tcPr>
                </a:tc>
              </a:tr>
              <a:tr h="310896">
                <a:tc>
                  <a:txBody>
                    <a:bodyPr/>
                    <a:lstStyle/>
                    <a:p>
                      <a:r>
                        <a:rPr sz="1100" b="1">
                          <a:solidFill>
                            <a:srgbClr val="0B1017"/>
                          </a:solidFill>
                          <a:latin typeface="Helvetica Neue"/>
                        </a:rPr>
                        <a:t>ikev2-dh1536</a:t>
                      </a:r>
                    </a:p>
                  </a:txBody>
                  <a:tcPr>
                    <a:solidFill>
                      <a:srgbClr val="FFFFFF"/>
                    </a:solidFill>
                  </a:tcPr>
                </a:tc>
                <a:tc>
                  <a:txBody>
                    <a:bodyPr/>
                    <a:lstStyle/>
                    <a:p>
                      <a:r>
                        <a:rPr sz="1100" b="0">
                          <a:solidFill>
                            <a:srgbClr val="0B1017"/>
                          </a:solidFill>
                          <a:latin typeface="Helvetica Neue"/>
                        </a:rPr>
                        <a:t>588</a:t>
                      </a:r>
                    </a:p>
                  </a:txBody>
                  <a:tcPr>
                    <a:solidFill>
                      <a:srgbClr val="FFFFFF"/>
                    </a:solidFill>
                  </a:tcPr>
                </a:tc>
                <a:tc>
                  <a:txBody>
                    <a:bodyPr/>
                    <a:lstStyle/>
                    <a:p>
                      <a:r>
                        <a:rPr sz="1100" b="0">
                          <a:solidFill>
                            <a:srgbClr val="0B1017"/>
                          </a:solidFill>
                          <a:latin typeface="Helvetica Neue"/>
                        </a:rPr>
                        <a:t>3</a:t>
                      </a:r>
                    </a:p>
                  </a:txBody>
                  <a:tcPr>
                    <a:solidFill>
                      <a:srgbClr val="FFFFFF"/>
                    </a:solidFill>
                  </a:tcPr>
                </a:tc>
                <a:tc>
                  <a:txBody>
                    <a:bodyPr/>
                    <a:lstStyle/>
                    <a:p>
                      <a:r>
                        <a:rPr sz="1100" b="0">
                          <a:solidFill>
                            <a:srgbClr val="0B1017"/>
                          </a:solidFill>
                          <a:latin typeface="Helvetica Neue"/>
                        </a:rPr>
                        <a:t>16</a:t>
                      </a:r>
                    </a:p>
                  </a:txBody>
                  <a:tcPr>
                    <a:solidFill>
                      <a:srgbClr val="FFFFFF"/>
                    </a:solidFill>
                  </a:tcPr>
                </a:tc>
                <a:tc>
                  <a:txBody>
                    <a:bodyPr/>
                    <a:lstStyle/>
                    <a:p>
                      <a:r>
                        <a:rPr sz="1100" b="0">
                          <a:solidFill>
                            <a:srgbClr val="0B1017"/>
                          </a:solidFill>
                          <a:latin typeface="Helvetica Neue"/>
                        </a:rPr>
                        <a:t>C</a:t>
                      </a:r>
                    </a:p>
                  </a:txBody>
                  <a:tcPr>
                    <a:solidFill>
                      <a:srgbClr val="FFFFFF"/>
                    </a:solidFill>
                  </a:tcPr>
                </a:tc>
                <a:tc>
                  <a:txBody>
                    <a:bodyPr/>
                    <a:lstStyle/>
                    <a:p>
                      <a:r>
                        <a:rPr sz="1100" b="0">
                          <a:solidFill>
                            <a:srgbClr val="0B1017"/>
                          </a:solidFill>
                          <a:latin typeface="Helvetica Neue"/>
                        </a:rPr>
                        <a:t>74</a:t>
                      </a:r>
                    </a:p>
                  </a:txBody>
                  <a:tcPr>
                    <a:solidFill>
                      <a:srgbClr val="FFFFFF"/>
                    </a:solidFill>
                  </a:tcPr>
                </a:tc>
                <a:tc>
                  <a:txBody>
                    <a:bodyPr/>
                    <a:lstStyle/>
                    <a:p>
                      <a:r>
                        <a:rPr sz="1100" b="0">
                          <a:solidFill>
                            <a:srgbClr val="0B1017"/>
                          </a:solidFill>
                          <a:latin typeface="Helvetica Neue"/>
                        </a:rPr>
                        <a:t>2</a:t>
                      </a:r>
                    </a:p>
                  </a:txBody>
                  <a:tcPr>
                    <a:solidFill>
                      <a:srgbClr val="FFFFFF"/>
                    </a:solidFill>
                  </a:tcPr>
                </a:tc>
              </a:tr>
              <a:tr h="310896">
                <a:tc>
                  <a:txBody>
                    <a:bodyPr/>
                    <a:lstStyle/>
                    <a:p>
                      <a:r>
                        <a:rPr sz="1100" b="1">
                          <a:solidFill>
                            <a:srgbClr val="0B1017"/>
                          </a:solidFill>
                          <a:latin typeface="Helvetica Neue"/>
                        </a:rPr>
                        <a:t>ikev2-legacy-integrity</a:t>
                      </a:r>
                    </a:p>
                  </a:txBody>
                  <a:tcPr>
                    <a:solidFill>
                      <a:srgbClr val="EEF2F6"/>
                    </a:solidFill>
                  </a:tcPr>
                </a:tc>
                <a:tc>
                  <a:txBody>
                    <a:bodyPr/>
                    <a:lstStyle/>
                    <a:p>
                      <a:r>
                        <a:rPr sz="1100" b="0">
                          <a:solidFill>
                            <a:srgbClr val="0B1017"/>
                          </a:solidFill>
                          <a:latin typeface="Helvetica Neue"/>
                        </a:rPr>
                        <a:t>588</a:t>
                      </a:r>
                    </a:p>
                  </a:txBody>
                  <a:tcPr>
                    <a:solidFill>
                      <a:srgbClr val="EEF2F6"/>
                    </a:solidFill>
                  </a:tcPr>
                </a:tc>
                <a:tc>
                  <a:txBody>
                    <a:bodyPr/>
                    <a:lstStyle/>
                    <a:p>
                      <a:r>
                        <a:rPr sz="1100" b="0">
                          <a:solidFill>
                            <a:srgbClr val="0B1017"/>
                          </a:solidFill>
                          <a:latin typeface="Helvetica Neue"/>
                        </a:rPr>
                        <a:t>3</a:t>
                      </a:r>
                    </a:p>
                  </a:txBody>
                  <a:tcPr>
                    <a:solidFill>
                      <a:srgbClr val="EEF2F6"/>
                    </a:solidFill>
                  </a:tcPr>
                </a:tc>
                <a:tc>
                  <a:txBody>
                    <a:bodyPr/>
                    <a:lstStyle/>
                    <a:p>
                      <a:r>
                        <a:rPr sz="1100" b="0">
                          <a:solidFill>
                            <a:srgbClr val="0B1017"/>
                          </a:solidFill>
                          <a:latin typeface="Helvetica Neue"/>
                        </a:rPr>
                        <a:t>16</a:t>
                      </a:r>
                    </a:p>
                  </a:txBody>
                  <a:tcPr>
                    <a:solidFill>
                      <a:srgbClr val="EEF2F6"/>
                    </a:solidFill>
                  </a:tcPr>
                </a:tc>
                <a:tc>
                  <a:txBody>
                    <a:bodyPr/>
                    <a:lstStyle/>
                    <a:p>
                      <a:r>
                        <a:rPr sz="1100" b="0">
                          <a:solidFill>
                            <a:srgbClr val="0B1017"/>
                          </a:solidFill>
                          <a:latin typeface="Helvetica Neue"/>
                        </a:rPr>
                        <a:t>B</a:t>
                      </a:r>
                    </a:p>
                  </a:txBody>
                  <a:tcPr>
                    <a:solidFill>
                      <a:srgbClr val="EEF2F6"/>
                    </a:solidFill>
                  </a:tcPr>
                </a:tc>
                <a:tc>
                  <a:txBody>
                    <a:bodyPr/>
                    <a:lstStyle/>
                    <a:p>
                      <a:r>
                        <a:rPr sz="1100" b="0">
                          <a:solidFill>
                            <a:srgbClr val="0B1017"/>
                          </a:solidFill>
                          <a:latin typeface="Helvetica Neue"/>
                        </a:rPr>
                        <a:t>89</a:t>
                      </a:r>
                    </a:p>
                  </a:txBody>
                  <a:tcPr>
                    <a:solidFill>
                      <a:srgbClr val="EEF2F6"/>
                    </a:solidFill>
                  </a:tcPr>
                </a:tc>
                <a:tc>
                  <a:txBody>
                    <a:bodyPr/>
                    <a:lstStyle/>
                    <a:p>
                      <a:r>
                        <a:rPr sz="1100" b="0">
                          <a:solidFill>
                            <a:srgbClr val="0B1017"/>
                          </a:solidFill>
                          <a:latin typeface="Helvetica Neue"/>
                        </a:rPr>
                        <a:t>3</a:t>
                      </a:r>
                    </a:p>
                  </a:txBody>
                  <a:tcPr>
                    <a:solidFill>
                      <a:srgbClr val="EEF2F6"/>
                    </a:solidFill>
                  </a:tcPr>
                </a:tc>
              </a:tr>
              <a:tr h="310896">
                <a:tc>
                  <a:txBody>
                    <a:bodyPr/>
                    <a:lstStyle/>
                    <a:p>
                      <a:r>
                        <a:rPr sz="1100" b="1">
                          <a:solidFill>
                            <a:srgbClr val="0B1017"/>
                          </a:solidFill>
                          <a:latin typeface="Helvetica Neue"/>
                        </a:rPr>
                        <a:t>ikev2-modern</a:t>
                      </a:r>
                    </a:p>
                  </a:txBody>
                  <a:tcPr>
                    <a:solidFill>
                      <a:srgbClr val="FFFFFF"/>
                    </a:solidFill>
                  </a:tcPr>
                </a:tc>
                <a:tc>
                  <a:txBody>
                    <a:bodyPr/>
                    <a:lstStyle/>
                    <a:p>
                      <a:r>
                        <a:rPr sz="1100" b="0">
                          <a:solidFill>
                            <a:srgbClr val="0B1017"/>
                          </a:solidFill>
                          <a:latin typeface="Helvetica Neue"/>
                        </a:rPr>
                        <a:t>592</a:t>
                      </a:r>
                    </a:p>
                  </a:txBody>
                  <a:tcPr>
                    <a:solidFill>
                      <a:srgbClr val="FFFFFF"/>
                    </a:solidFill>
                  </a:tcPr>
                </a:tc>
                <a:tc>
                  <a:txBody>
                    <a:bodyPr/>
                    <a:lstStyle/>
                    <a:p>
                      <a:r>
                        <a:rPr sz="1100" b="0">
                          <a:solidFill>
                            <a:srgbClr val="0B1017"/>
                          </a:solidFill>
                          <a:latin typeface="Helvetica Neue"/>
                        </a:rPr>
                        <a:t>3</a:t>
                      </a:r>
                    </a:p>
                  </a:txBody>
                  <a:tcPr>
                    <a:solidFill>
                      <a:srgbClr val="FFFFFF"/>
                    </a:solidFill>
                  </a:tcPr>
                </a:tc>
                <a:tc>
                  <a:txBody>
                    <a:bodyPr/>
                    <a:lstStyle/>
                    <a:p>
                      <a:r>
                        <a:rPr sz="1100" b="0">
                          <a:solidFill>
                            <a:srgbClr val="0B1017"/>
                          </a:solidFill>
                          <a:latin typeface="Helvetica Neue"/>
                        </a:rPr>
                        <a:t>16</a:t>
                      </a:r>
                    </a:p>
                  </a:txBody>
                  <a:tcPr>
                    <a:solidFill>
                      <a:srgbClr val="FFFFFF"/>
                    </a:solidFill>
                  </a:tcPr>
                </a:tc>
                <a:tc>
                  <a:txBody>
                    <a:bodyPr/>
                    <a:lstStyle/>
                    <a:p>
                      <a:r>
                        <a:rPr sz="1100" b="0">
                          <a:solidFill>
                            <a:srgbClr val="0B1017"/>
                          </a:solidFill>
                          <a:latin typeface="Helvetica Neue"/>
                        </a:rPr>
                        <a:t>A</a:t>
                      </a:r>
                    </a:p>
                  </a:txBody>
                  <a:tcPr>
                    <a:solidFill>
                      <a:srgbClr val="FFFFFF"/>
                    </a:solidFill>
                  </a:tcPr>
                </a:tc>
                <a:tc>
                  <a:txBody>
                    <a:bodyPr/>
                    <a:lstStyle/>
                    <a:p>
                      <a:r>
                        <a:rPr sz="1100" b="0">
                          <a:solidFill>
                            <a:srgbClr val="0B1017"/>
                          </a:solidFill>
                          <a:latin typeface="Helvetica Neue"/>
                        </a:rPr>
                        <a:t>99</a:t>
                      </a:r>
                    </a:p>
                  </a:txBody>
                  <a:tcPr>
                    <a:solidFill>
                      <a:srgbClr val="FFFFFF"/>
                    </a:solidFill>
                  </a:tcPr>
                </a:tc>
                <a:tc>
                  <a:txBody>
                    <a:bodyPr/>
                    <a:lstStyle/>
                    <a:p>
                      <a:r>
                        <a:rPr sz="1100" b="0">
                          <a:solidFill>
                            <a:srgbClr val="0B1017"/>
                          </a:solidFill>
                          <a:latin typeface="Helvetica Neue"/>
                        </a:rPr>
                        <a:t>1</a:t>
                      </a:r>
                    </a:p>
                  </a:txBody>
                  <a:tcPr>
                    <a:solidFill>
                      <a:srgbClr val="FFFFFF"/>
                    </a:solidFill>
                  </a:tcPr>
                </a:tc>
              </a:tr>
              <a:tr h="310896">
                <a:tc>
                  <a:txBody>
                    <a:bodyPr/>
                    <a:lstStyle/>
                    <a:p>
                      <a:r>
                        <a:rPr sz="1100" b="1">
                          <a:solidFill>
                            <a:srgbClr val="0B1017"/>
                          </a:solidFill>
                          <a:latin typeface="Helvetica Neue"/>
                        </a:rPr>
                        <a:t>ikev2-null-encryption</a:t>
                      </a:r>
                    </a:p>
                  </a:txBody>
                  <a:tcPr>
                    <a:solidFill>
                      <a:srgbClr val="EEF2F6"/>
                    </a:solidFill>
                  </a:tcPr>
                </a:tc>
                <a:tc>
                  <a:txBody>
                    <a:bodyPr/>
                    <a:lstStyle/>
                    <a:p>
                      <a:r>
                        <a:rPr sz="1100" b="0">
                          <a:solidFill>
                            <a:srgbClr val="0B1017"/>
                          </a:solidFill>
                          <a:latin typeface="Helvetica Neue"/>
                        </a:rPr>
                        <a:t>590</a:t>
                      </a:r>
                    </a:p>
                  </a:txBody>
                  <a:tcPr>
                    <a:solidFill>
                      <a:srgbClr val="EEF2F6"/>
                    </a:solidFill>
                  </a:tcPr>
                </a:tc>
                <a:tc>
                  <a:txBody>
                    <a:bodyPr/>
                    <a:lstStyle/>
                    <a:p>
                      <a:r>
                        <a:rPr sz="1100" b="0">
                          <a:solidFill>
                            <a:srgbClr val="0B1017"/>
                          </a:solidFill>
                          <a:latin typeface="Helvetica Neue"/>
                        </a:rPr>
                        <a:t>3</a:t>
                      </a:r>
                    </a:p>
                  </a:txBody>
                  <a:tcPr>
                    <a:solidFill>
                      <a:srgbClr val="EEF2F6"/>
                    </a:solidFill>
                  </a:tcPr>
                </a:tc>
                <a:tc>
                  <a:txBody>
                    <a:bodyPr/>
                    <a:lstStyle/>
                    <a:p>
                      <a:r>
                        <a:rPr sz="1100" b="0">
                          <a:solidFill>
                            <a:srgbClr val="0B1017"/>
                          </a:solidFill>
                          <a:latin typeface="Helvetica Neue"/>
                        </a:rPr>
                        <a:t>16</a:t>
                      </a:r>
                    </a:p>
                  </a:txBody>
                  <a:tcPr>
                    <a:solidFill>
                      <a:srgbClr val="EEF2F6"/>
                    </a:solidFill>
                  </a:tcPr>
                </a:tc>
                <a:tc>
                  <a:txBody>
                    <a:bodyPr/>
                    <a:lstStyle/>
                    <a:p>
                      <a:r>
                        <a:rPr sz="1100" b="0">
                          <a:solidFill>
                            <a:srgbClr val="0B1017"/>
                          </a:solidFill>
                          <a:latin typeface="Helvetica Neue"/>
                        </a:rPr>
                        <a:t>F</a:t>
                      </a:r>
                    </a:p>
                  </a:txBody>
                  <a:tcPr>
                    <a:solidFill>
                      <a:srgbClr val="EEF2F6"/>
                    </a:solidFill>
                  </a:tcPr>
                </a:tc>
                <a:tc>
                  <a:txBody>
                    <a:bodyPr/>
                    <a:lstStyle/>
                    <a:p>
                      <a:r>
                        <a:rPr sz="1100" b="0">
                          <a:solidFill>
                            <a:srgbClr val="0B1017"/>
                          </a:solidFill>
                          <a:latin typeface="Helvetica Neue"/>
                        </a:rPr>
                        <a:t>0</a:t>
                      </a:r>
                    </a:p>
                  </a:txBody>
                  <a:tcPr>
                    <a:solidFill>
                      <a:srgbClr val="EEF2F6"/>
                    </a:solidFill>
                  </a:tcPr>
                </a:tc>
                <a:tc>
                  <a:txBody>
                    <a:bodyPr/>
                    <a:lstStyle/>
                    <a:p>
                      <a:r>
                        <a:rPr sz="1100" b="0">
                          <a:solidFill>
                            <a:srgbClr val="0B1017"/>
                          </a:solidFill>
                          <a:latin typeface="Helvetica Neue"/>
                        </a:rPr>
                        <a:t>5</a:t>
                      </a:r>
                    </a:p>
                  </a:txBody>
                  <a:tcPr>
                    <a:solidFill>
                      <a:srgbClr val="EEF2F6"/>
                    </a:solidFill>
                  </a:tcPr>
                </a:tc>
              </a:tr>
              <a:tr h="310896">
                <a:tc>
                  <a:txBody>
                    <a:bodyPr/>
                    <a:lstStyle/>
                    <a:p>
                      <a:r>
                        <a:rPr sz="1100" b="1">
                          <a:solidFill>
                            <a:srgbClr val="0B1017"/>
                          </a:solidFill>
                          <a:latin typeface="Helvetica Neue"/>
                        </a:rPr>
                        <a:t>ikev2-sha256-integrity</a:t>
                      </a:r>
                    </a:p>
                  </a:txBody>
                  <a:tcPr>
                    <a:solidFill>
                      <a:srgbClr val="FFFFFF"/>
                    </a:solidFill>
                  </a:tcPr>
                </a:tc>
                <a:tc>
                  <a:txBody>
                    <a:bodyPr/>
                    <a:lstStyle/>
                    <a:p>
                      <a:r>
                        <a:rPr sz="1100" b="0">
                          <a:solidFill>
                            <a:srgbClr val="0B1017"/>
                          </a:solidFill>
                          <a:latin typeface="Helvetica Neue"/>
                        </a:rPr>
                        <a:t>588</a:t>
                      </a:r>
                    </a:p>
                  </a:txBody>
                  <a:tcPr>
                    <a:solidFill>
                      <a:srgbClr val="FFFFFF"/>
                    </a:solidFill>
                  </a:tcPr>
                </a:tc>
                <a:tc>
                  <a:txBody>
                    <a:bodyPr/>
                    <a:lstStyle/>
                    <a:p>
                      <a:r>
                        <a:rPr sz="1100" b="0">
                          <a:solidFill>
                            <a:srgbClr val="0B1017"/>
                          </a:solidFill>
                          <a:latin typeface="Helvetica Neue"/>
                        </a:rPr>
                        <a:t>3</a:t>
                      </a:r>
                    </a:p>
                  </a:txBody>
                  <a:tcPr>
                    <a:solidFill>
                      <a:srgbClr val="FFFFFF"/>
                    </a:solidFill>
                  </a:tcPr>
                </a:tc>
                <a:tc>
                  <a:txBody>
                    <a:bodyPr/>
                    <a:lstStyle/>
                    <a:p>
                      <a:r>
                        <a:rPr sz="1100" b="0">
                          <a:solidFill>
                            <a:srgbClr val="0B1017"/>
                          </a:solidFill>
                          <a:latin typeface="Helvetica Neue"/>
                        </a:rPr>
                        <a:t>16</a:t>
                      </a:r>
                    </a:p>
                  </a:txBody>
                  <a:tcPr>
                    <a:solidFill>
                      <a:srgbClr val="FFFFFF"/>
                    </a:solidFill>
                  </a:tcPr>
                </a:tc>
                <a:tc>
                  <a:txBody>
                    <a:bodyPr/>
                    <a:lstStyle/>
                    <a:p>
                      <a:r>
                        <a:rPr sz="1100" b="0">
                          <a:solidFill>
                            <a:srgbClr val="0B1017"/>
                          </a:solidFill>
                          <a:latin typeface="Helvetica Neue"/>
                        </a:rPr>
                        <a:t>A</a:t>
                      </a:r>
                    </a:p>
                  </a:txBody>
                  <a:tcPr>
                    <a:solidFill>
                      <a:srgbClr val="FFFFFF"/>
                    </a:solidFill>
                  </a:tcPr>
                </a:tc>
                <a:tc>
                  <a:txBody>
                    <a:bodyPr/>
                    <a:lstStyle/>
                    <a:p>
                      <a:r>
                        <a:rPr sz="1100" b="0">
                          <a:solidFill>
                            <a:srgbClr val="0B1017"/>
                          </a:solidFill>
                          <a:latin typeface="Helvetica Neue"/>
                        </a:rPr>
                        <a:t>99</a:t>
                      </a:r>
                    </a:p>
                  </a:txBody>
                  <a:tcPr>
                    <a:solidFill>
                      <a:srgbClr val="FFFFFF"/>
                    </a:solidFill>
                  </a:tcPr>
                </a:tc>
                <a:tc>
                  <a:txBody>
                    <a:bodyPr/>
                    <a:lstStyle/>
                    <a:p>
                      <a:r>
                        <a:rPr sz="1100" b="0">
                          <a:solidFill>
                            <a:srgbClr val="0B1017"/>
                          </a:solidFill>
                          <a:latin typeface="Helvetica Neue"/>
                        </a:rPr>
                        <a:t>1</a:t>
                      </a:r>
                    </a:p>
                  </a:txBody>
                  <a:tcPr>
                    <a:solidFill>
                      <a:srgbClr val="FFFFFF"/>
                    </a:solidFill>
                  </a:tcPr>
                </a:tc>
              </a:tr>
              <a:tr h="310896">
                <a:tc>
                  <a:txBody>
                    <a:bodyPr/>
                    <a:lstStyle/>
                    <a:p>
                      <a:r>
                        <a:rPr sz="1100" b="1">
                          <a:solidFill>
                            <a:srgbClr val="0B1017"/>
                          </a:solidFill>
                          <a:latin typeface="Helvetica Neue"/>
                        </a:rPr>
                        <a:t>ikev2-weak-dh</a:t>
                      </a:r>
                    </a:p>
                  </a:txBody>
                  <a:tcPr>
                    <a:solidFill>
                      <a:srgbClr val="EEF2F6"/>
                    </a:solidFill>
                  </a:tcPr>
                </a:tc>
                <a:tc>
                  <a:txBody>
                    <a:bodyPr/>
                    <a:lstStyle/>
                    <a:p>
                      <a:r>
                        <a:rPr sz="1100" b="0">
                          <a:solidFill>
                            <a:srgbClr val="0B1017"/>
                          </a:solidFill>
                          <a:latin typeface="Helvetica Neue"/>
                        </a:rPr>
                        <a:t>588</a:t>
                      </a:r>
                    </a:p>
                  </a:txBody>
                  <a:tcPr>
                    <a:solidFill>
                      <a:srgbClr val="EEF2F6"/>
                    </a:solidFill>
                  </a:tcPr>
                </a:tc>
                <a:tc>
                  <a:txBody>
                    <a:bodyPr/>
                    <a:lstStyle/>
                    <a:p>
                      <a:r>
                        <a:rPr sz="1100" b="0">
                          <a:solidFill>
                            <a:srgbClr val="0B1017"/>
                          </a:solidFill>
                          <a:latin typeface="Helvetica Neue"/>
                        </a:rPr>
                        <a:t>3</a:t>
                      </a:r>
                    </a:p>
                  </a:txBody>
                  <a:tcPr>
                    <a:solidFill>
                      <a:srgbClr val="EEF2F6"/>
                    </a:solidFill>
                  </a:tcPr>
                </a:tc>
                <a:tc>
                  <a:txBody>
                    <a:bodyPr/>
                    <a:lstStyle/>
                    <a:p>
                      <a:r>
                        <a:rPr sz="1100" b="0">
                          <a:solidFill>
                            <a:srgbClr val="0B1017"/>
                          </a:solidFill>
                          <a:latin typeface="Helvetica Neue"/>
                        </a:rPr>
                        <a:t>16</a:t>
                      </a:r>
                    </a:p>
                  </a:txBody>
                  <a:tcPr>
                    <a:solidFill>
                      <a:srgbClr val="EEF2F6"/>
                    </a:solidFill>
                  </a:tcPr>
                </a:tc>
                <a:tc>
                  <a:txBody>
                    <a:bodyPr/>
                    <a:lstStyle/>
                    <a:p>
                      <a:r>
                        <a:rPr sz="1100" b="0">
                          <a:solidFill>
                            <a:srgbClr val="0B1017"/>
                          </a:solidFill>
                          <a:latin typeface="Helvetica Neue"/>
                        </a:rPr>
                        <a:t>F</a:t>
                      </a:r>
                    </a:p>
                  </a:txBody>
                  <a:tcPr>
                    <a:solidFill>
                      <a:srgbClr val="EEF2F6"/>
                    </a:solidFill>
                  </a:tcPr>
                </a:tc>
                <a:tc>
                  <a:txBody>
                    <a:bodyPr/>
                    <a:lstStyle/>
                    <a:p>
                      <a:r>
                        <a:rPr sz="1100" b="0">
                          <a:solidFill>
                            <a:srgbClr val="0B1017"/>
                          </a:solidFill>
                          <a:latin typeface="Helvetica Neue"/>
                        </a:rPr>
                        <a:t>39</a:t>
                      </a:r>
                    </a:p>
                  </a:txBody>
                  <a:tcPr>
                    <a:solidFill>
                      <a:srgbClr val="EEF2F6"/>
                    </a:solidFill>
                  </a:tcPr>
                </a:tc>
                <a:tc>
                  <a:txBody>
                    <a:bodyPr/>
                    <a:lstStyle/>
                    <a:p>
                      <a:r>
                        <a:rPr sz="1100" b="0">
                          <a:solidFill>
                            <a:srgbClr val="0B1017"/>
                          </a:solidFill>
                          <a:latin typeface="Helvetica Neue"/>
                        </a:rPr>
                        <a:t>4</a:t>
                      </a:r>
                    </a:p>
                  </a:txBody>
                  <a:tcPr>
                    <a:solidFill>
                      <a:srgbClr val="EEF2F6"/>
                    </a:solidFill>
                  </a:tcPr>
                </a:tc>
              </a:tr>
              <a:tr h="310896">
                <a:tc>
                  <a:txBody>
                    <a:bodyPr/>
                    <a:lstStyle/>
                    <a:p>
                      <a:r>
                        <a:rPr sz="1100" b="1">
                          <a:solidFill>
                            <a:srgbClr val="0B1017"/>
                          </a:solidFill>
                          <a:latin typeface="Helvetica Neue"/>
                        </a:rPr>
                        <a:t>ikev2-x25519</a:t>
                      </a:r>
                    </a:p>
                  </a:txBody>
                  <a:tcPr>
                    <a:solidFill>
                      <a:srgbClr val="FFFFFF"/>
                    </a:solidFill>
                  </a:tcPr>
                </a:tc>
                <a:tc>
                  <a:txBody>
                    <a:bodyPr/>
                    <a:lstStyle/>
                    <a:p>
                      <a:r>
                        <a:rPr sz="1100" b="0">
                          <a:solidFill>
                            <a:srgbClr val="0B1017"/>
                          </a:solidFill>
                          <a:latin typeface="Helvetica Neue"/>
                        </a:rPr>
                        <a:t>588</a:t>
                      </a:r>
                    </a:p>
                  </a:txBody>
                  <a:tcPr>
                    <a:solidFill>
                      <a:srgbClr val="FFFFFF"/>
                    </a:solidFill>
                  </a:tcPr>
                </a:tc>
                <a:tc>
                  <a:txBody>
                    <a:bodyPr/>
                    <a:lstStyle/>
                    <a:p>
                      <a:r>
                        <a:rPr sz="1100" b="0">
                          <a:solidFill>
                            <a:srgbClr val="0B1017"/>
                          </a:solidFill>
                          <a:latin typeface="Helvetica Neue"/>
                        </a:rPr>
                        <a:t>3</a:t>
                      </a:r>
                    </a:p>
                  </a:txBody>
                  <a:tcPr>
                    <a:solidFill>
                      <a:srgbClr val="FFFFFF"/>
                    </a:solidFill>
                  </a:tcPr>
                </a:tc>
                <a:tc>
                  <a:txBody>
                    <a:bodyPr/>
                    <a:lstStyle/>
                    <a:p>
                      <a:r>
                        <a:rPr sz="1100" b="0">
                          <a:solidFill>
                            <a:srgbClr val="0B1017"/>
                          </a:solidFill>
                          <a:latin typeface="Helvetica Neue"/>
                        </a:rPr>
                        <a:t>16</a:t>
                      </a:r>
                    </a:p>
                  </a:txBody>
                  <a:tcPr>
                    <a:solidFill>
                      <a:srgbClr val="FFFFFF"/>
                    </a:solidFill>
                  </a:tcPr>
                </a:tc>
                <a:tc>
                  <a:txBody>
                    <a:bodyPr/>
                    <a:lstStyle/>
                    <a:p>
                      <a:r>
                        <a:rPr sz="1100" b="0">
                          <a:solidFill>
                            <a:srgbClr val="0B1017"/>
                          </a:solidFill>
                          <a:latin typeface="Helvetica Neue"/>
                        </a:rPr>
                        <a:t>A</a:t>
                      </a:r>
                    </a:p>
                  </a:txBody>
                  <a:tcPr>
                    <a:solidFill>
                      <a:srgbClr val="FFFFFF"/>
                    </a:solidFill>
                  </a:tcPr>
                </a:tc>
                <a:tc>
                  <a:txBody>
                    <a:bodyPr/>
                    <a:lstStyle/>
                    <a:p>
                      <a:r>
                        <a:rPr sz="1100" b="0">
                          <a:solidFill>
                            <a:srgbClr val="0B1017"/>
                          </a:solidFill>
                          <a:latin typeface="Helvetica Neue"/>
                        </a:rPr>
                        <a:t>99</a:t>
                      </a:r>
                    </a:p>
                  </a:txBody>
                  <a:tcPr>
                    <a:solidFill>
                      <a:srgbClr val="FFFFFF"/>
                    </a:solidFill>
                  </a:tcPr>
                </a:tc>
                <a:tc>
                  <a:txBody>
                    <a:bodyPr/>
                    <a:lstStyle/>
                    <a:p>
                      <a:r>
                        <a:rPr sz="1100" b="0">
                          <a:solidFill>
                            <a:srgbClr val="0B1017"/>
                          </a:solidFill>
                          <a:latin typeface="Helvetica Neue"/>
                        </a:rPr>
                        <a:t>1</a:t>
                      </a:r>
                    </a:p>
                  </a:txBody>
                  <a:tcPr>
                    <a:solidFill>
                      <a:srgbClr val="FFFFFF"/>
                    </a:solidFill>
                  </a:tcPr>
                </a:tc>
              </a:tr>
            </a:tbl>
          </a:graphicData>
        </a:graphic>
      </p:graphicFrame>
      <p:sp>
        <p:nvSpPr>
          <p:cNvPr id="5" name="TextBox 4"/>
          <p:cNvSpPr txBox="1"/>
          <p:nvPr/>
        </p:nvSpPr>
        <p:spPr>
          <a:xfrm>
            <a:off x="731520" y="3794760"/>
            <a:ext cx="10698480" cy="1737360"/>
          </a:xfrm>
          <a:prstGeom prst="rect">
            <a:avLst/>
          </a:prstGeom>
          <a:noFill/>
        </p:spPr>
        <p:txBody>
          <a:bodyPr wrap="square">
            <a:spAutoFit/>
          </a:bodyPr>
          <a:lstStyle/>
          <a:p>
            <a:pPr algn="l">
              <a:spcAft>
                <a:spcPts val="1200"/>
              </a:spcAft>
            </a:pPr>
            <a:r>
              <a:rPr sz="1600" b="1">
                <a:solidFill>
                  <a:srgbClr val="0B1017"/>
                </a:solidFill>
                <a:latin typeface="Helvetica Neue"/>
              </a:rPr>
              <a:t>11 captures  ·  4,290 packets  ·  21 ESP flows  ·  280 IKE messages  ·  7 of 11 carrying real tunnel data</a:t>
            </a:r>
          </a:p>
          <a:p>
            <a:pPr algn="l">
              <a:spcAft>
                <a:spcPts val="600"/>
              </a:spcAft>
            </a:pPr>
            <a:r>
              <a:rPr sz="1300" b="0">
                <a:solidFill>
                  <a:srgbClr val="2B364B"/>
                </a:solidFill>
                <a:latin typeface="Helvetica Neue"/>
              </a:rPr>
              <a:t>Every capture comes from two real strongSwan 5.9.13 gateways in Docker, negotiating for real, with seven labelled traffic classes pushed across the tunnel afterwards so the data path is populated and not merely implied.</a:t>
            </a:r>
          </a:p>
          <a:p>
            <a:pPr algn="l">
              <a:spcAft>
                <a:spcPts val="600"/>
              </a:spcAft>
            </a:pPr>
            <a:r>
              <a:rPr sz="1300" b="0">
                <a:solidFill>
                  <a:srgbClr val="5A677B"/>
                </a:solidFill>
                <a:latin typeface="Helvetica Neue"/>
              </a:rPr>
              <a:t>One Security Association per direction, so the flow count is small. The packet count is what a passive observer actually sees, and it is where the data is.</a:t>
            </a:r>
          </a:p>
          <a:p>
            <a:pPr algn="l">
              <a:spcAft>
                <a:spcPts val="0"/>
              </a:spcAft>
            </a:pPr>
            <a:r>
              <a:rPr sz="1300" b="0">
                <a:solidFill>
                  <a:srgbClr val="5A677B"/>
                </a:solidFill>
                <a:latin typeface="Helvetica Neue"/>
              </a:rPr>
              <a:t>Expectations were read from tcpdump and swanctl --list-sas on a live gateway, then pinned in tests. The parser is checked against them, never the other way round.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31520" y="502920"/>
            <a:ext cx="10698480" cy="640080"/>
          </a:xfrm>
          <a:prstGeom prst="rect">
            <a:avLst/>
          </a:prstGeom>
          <a:noFill/>
        </p:spPr>
        <p:txBody>
          <a:bodyPr wrap="square">
            <a:spAutoFit/>
          </a:bodyPr>
          <a:lstStyle/>
          <a:p>
            <a:pPr algn="l">
              <a:spcAft>
                <a:spcPts val="0"/>
              </a:spcAft>
            </a:pPr>
            <a:r>
              <a:rPr sz="3000" b="1">
                <a:solidFill>
                  <a:srgbClr val="0B1017"/>
                </a:solidFill>
                <a:latin typeface="Helvetica Neue"/>
              </a:rPr>
              <a:t>What still leaks through the encryption</a:t>
            </a:r>
          </a:p>
        </p:txBody>
      </p:sp>
      <p:sp>
        <p:nvSpPr>
          <p:cNvPr id="3" name="Rectangle 2"/>
          <p:cNvSpPr/>
          <p:nvPr/>
        </p:nvSpPr>
        <p:spPr>
          <a:xfrm>
            <a:off x="731520" y="1097280"/>
            <a:ext cx="1463040" cy="381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17320"/>
            <a:ext cx="5120640" cy="4480560"/>
          </a:xfrm>
          <a:prstGeom prst="rect">
            <a:avLst/>
          </a:prstGeom>
          <a:noFill/>
        </p:spPr>
        <p:txBody>
          <a:bodyPr wrap="square">
            <a:spAutoFit/>
          </a:bodyPr>
          <a:lstStyle/>
          <a:p>
            <a:pPr algn="l">
              <a:spcAft>
                <a:spcPts val="800"/>
              </a:spcAft>
            </a:pPr>
            <a:r>
              <a:rPr sz="1700" b="1">
                <a:solidFill>
                  <a:srgbClr val="0B1017"/>
                </a:solidFill>
                <a:latin typeface="Helvetica Neue"/>
              </a:rPr>
              <a:t>The claim we can actually support</a:t>
            </a:r>
          </a:p>
          <a:p>
            <a:pPr algn="l">
              <a:spcAft>
                <a:spcPts val="1000"/>
              </a:spcAft>
            </a:pPr>
            <a:r>
              <a:rPr sz="1300" b="0">
                <a:solidFill>
                  <a:srgbClr val="2B364B"/>
                </a:solidFill>
                <a:latin typeface="Helvetica Neue"/>
              </a:rPr>
              <a:t>ESP encrypts the payload. It does not encrypt packet size, direction or timing. A passive observer with no keys still has a feature vector, and the honest question is what that vector is worth.</a:t>
            </a:r>
          </a:p>
          <a:p>
            <a:pPr algn="l">
              <a:spcAft>
                <a:spcPts val="800"/>
              </a:spcAft>
            </a:pPr>
            <a:r>
              <a:rPr sz="1300" b="1">
                <a:solidFill>
                  <a:srgbClr val="0B1017"/>
                </a:solidFill>
                <a:latin typeface="Helvetica Neue"/>
              </a:rPr>
              <a:t>So we measured it instead of claiming it.</a:t>
            </a:r>
          </a:p>
          <a:p>
            <a:pPr algn="l">
              <a:spcAft>
                <a:spcPts val="600"/>
              </a:spcAft>
            </a:pPr>
            <a:r>
              <a:rPr sz="1300" b="0">
                <a:solidFill>
                  <a:srgbClr val="2B364B"/>
                </a:solidFill>
                <a:latin typeface="Helvetica Neue"/>
              </a:rPr>
              <a:t>Gradient-boosted trees, twelve features, 297 windows, leave-one-tunnel-out.</a:t>
            </a:r>
          </a:p>
          <a:p>
            <a:pPr algn="l">
              <a:spcAft>
                <a:spcPts val="0"/>
              </a:spcAft>
            </a:pPr>
            <a:r>
              <a:rPr sz="1200" b="0">
                <a:solidFill>
                  <a:srgbClr val="5A677B"/>
                </a:solidFill>
                <a:latin typeface="Helvetica Neue"/>
              </a:rPr>
              <a:t>Whole tunnels held out, never random splits: windows from one capture were generated seconds apart, so a random split would report an accuracy nobody could reproduce.</a:t>
            </a:r>
          </a:p>
        </p:txBody>
      </p:sp>
      <p:sp>
        <p:nvSpPr>
          <p:cNvPr id="5" name="TextBox 4"/>
          <p:cNvSpPr txBox="1"/>
          <p:nvPr/>
        </p:nvSpPr>
        <p:spPr>
          <a:xfrm>
            <a:off x="6309360" y="1417320"/>
            <a:ext cx="5120640" cy="4480560"/>
          </a:xfrm>
          <a:prstGeom prst="rect">
            <a:avLst/>
          </a:prstGeom>
          <a:noFill/>
        </p:spPr>
        <p:txBody>
          <a:bodyPr wrap="square">
            <a:spAutoFit/>
          </a:bodyPr>
          <a:lstStyle/>
          <a:p>
            <a:pPr algn="l">
              <a:spcAft>
                <a:spcPts val="1000"/>
              </a:spcAft>
            </a:pPr>
            <a:r>
              <a:rPr sz="1700" b="1">
                <a:solidFill>
                  <a:srgbClr val="1F8A8A"/>
                </a:solidFill>
                <a:latin typeface="Helvetica Neue"/>
              </a:rPr>
              <a:t>Result</a:t>
            </a:r>
          </a:p>
          <a:p>
            <a:pPr algn="l">
              <a:spcAft>
                <a:spcPts val="200"/>
              </a:spcAft>
            </a:pPr>
            <a:r>
              <a:rPr sz="2000" b="1">
                <a:solidFill>
                  <a:srgbClr val="0B1017"/>
                </a:solidFill>
                <a:latin typeface="Helvetica Neue"/>
              </a:rPr>
              <a:t>70% accuracy, held-out tunnel</a:t>
            </a:r>
          </a:p>
          <a:p>
            <a:pPr algn="l">
              <a:spcAft>
                <a:spcPts val="1000"/>
              </a:spcAft>
            </a:pPr>
            <a:r>
              <a:rPr sz="1200" b="0">
                <a:solidFill>
                  <a:srgbClr val="5A677B"/>
                </a:solidFill>
                <a:latin typeface="Helvetica Neue"/>
              </a:rPr>
              <a:t>43% majority-class baseline — the number to beat</a:t>
            </a:r>
          </a:p>
          <a:p>
            <a:pPr algn="l">
              <a:spcAft>
                <a:spcPts val="600"/>
              </a:spcAft>
            </a:pPr>
            <a:r>
              <a:rPr sz="1300" b="0">
                <a:solidFill>
                  <a:srgbClr val="2B364B"/>
                </a:solidFill>
                <a:latin typeface="Helvetica Neue"/>
              </a:rPr>
              <a:t>97% of windows answered, 3% abstained</a:t>
            </a:r>
          </a:p>
          <a:p>
            <a:pPr algn="l">
              <a:spcAft>
                <a:spcPts val="1000"/>
              </a:spcAft>
            </a:pPr>
            <a:r>
              <a:rPr sz="1200" b="0">
                <a:solidFill>
                  <a:srgbClr val="5A677B"/>
                </a:solidFill>
                <a:latin typeface="Helvetica Neue"/>
              </a:rPr>
              <a:t>When the model is not confident it says so instead of guessing, and the abstention is counted against it. An evaluator who reports only accuracy on a model allowed to stay silent is reporting the easy half.</a:t>
            </a:r>
          </a:p>
          <a:p>
            <a:pPr algn="l">
              <a:spcAft>
                <a:spcPts val="0"/>
              </a:spcAft>
            </a:pPr>
            <a:r>
              <a:rPr sz="1200" b="0">
                <a:solidFill>
                  <a:srgbClr val="5A677B"/>
                </a:solidFill>
                <a:latin typeface="Helvetica Neue"/>
              </a:rPr>
              <a:t>Three of the seven classes produced too few packets to label and are reported absent rather than quietly dropped. One class is never classified correctly, and the matrix below says so.</a:t>
            </a:r>
          </a:p>
        </p:txBody>
      </p:sp>
      <p:graphicFrame>
        <p:nvGraphicFramePr>
          <p:cNvPr id="6" name="Table 5"/>
          <p:cNvGraphicFramePr>
            <a:graphicFrameLocks noGrp="1"/>
          </p:cNvGraphicFramePr>
          <p:nvPr/>
        </p:nvGraphicFramePr>
        <p:xfrm>
          <a:off x="731520" y="4160520"/>
          <a:ext cx="6766555" cy="1316736"/>
        </p:xfrm>
        <a:graphic>
          <a:graphicData uri="http://schemas.openxmlformats.org/drawingml/2006/table">
            <a:tbl>
              <a:tblPr firstRow="1" bandRow="1">
                <a:tableStyleId>{5C22544A-7EE6-4342-B048-85BDC9FD1C3A}</a:tableStyleId>
              </a:tblPr>
              <a:tblGrid>
                <a:gridCol w="1554480"/>
                <a:gridCol w="1042415"/>
                <a:gridCol w="1042415"/>
                <a:gridCol w="1042415"/>
                <a:gridCol w="1042415"/>
                <a:gridCol w="1042415"/>
              </a:tblGrid>
              <a:tr h="219456">
                <a:tc>
                  <a:txBody>
                    <a:bodyPr/>
                    <a:lstStyle/>
                    <a:p>
                      <a:r>
                        <a:rPr sz="1100" b="1">
                          <a:solidFill>
                            <a:srgbClr val="FFFFFF"/>
                          </a:solidFill>
                          <a:latin typeface="Helvetica Neue"/>
                        </a:rPr>
                        <a:t>truth \ predicted</a:t>
                      </a:r>
                    </a:p>
                  </a:txBody>
                  <a:tcPr>
                    <a:solidFill>
                      <a:srgbClr val="2B364B"/>
                    </a:solidFill>
                  </a:tcPr>
                </a:tc>
                <a:tc>
                  <a:txBody>
                    <a:bodyPr/>
                    <a:lstStyle/>
                    <a:p>
                      <a:r>
                        <a:rPr sz="1100" b="1">
                          <a:solidFill>
                            <a:srgbClr val="FFFFFF"/>
                          </a:solidFill>
                          <a:latin typeface="Helvetica Neue"/>
                        </a:rPr>
                        <a:t>dns</a:t>
                      </a:r>
                    </a:p>
                  </a:txBody>
                  <a:tcPr>
                    <a:solidFill>
                      <a:srgbClr val="2B364B"/>
                    </a:solidFill>
                  </a:tcPr>
                </a:tc>
                <a:tc>
                  <a:txBody>
                    <a:bodyPr/>
                    <a:lstStyle/>
                    <a:p>
                      <a:r>
                        <a:rPr sz="1100" b="1">
                          <a:solidFill>
                            <a:srgbClr val="FFFFFF"/>
                          </a:solidFill>
                          <a:latin typeface="Helvetica Neue"/>
                        </a:rPr>
                        <a:t>icmp-bulk</a:t>
                      </a:r>
                    </a:p>
                  </a:txBody>
                  <a:tcPr>
                    <a:solidFill>
                      <a:srgbClr val="2B364B"/>
                    </a:solidFill>
                  </a:tcPr>
                </a:tc>
                <a:tc>
                  <a:txBody>
                    <a:bodyPr/>
                    <a:lstStyle/>
                    <a:p>
                      <a:r>
                        <a:rPr sz="1100" b="1">
                          <a:solidFill>
                            <a:srgbClr val="FFFFFF"/>
                          </a:solidFill>
                          <a:latin typeface="Helvetica Neue"/>
                        </a:rPr>
                        <a:t>icmp-int</a:t>
                      </a:r>
                    </a:p>
                  </a:txBody>
                  <a:tcPr>
                    <a:solidFill>
                      <a:srgbClr val="2B364B"/>
                    </a:solidFill>
                  </a:tcPr>
                </a:tc>
                <a:tc>
                  <a:txBody>
                    <a:bodyPr/>
                    <a:lstStyle/>
                    <a:p>
                      <a:r>
                        <a:rPr sz="1100" b="1">
                          <a:solidFill>
                            <a:srgbClr val="FFFFFF"/>
                          </a:solidFill>
                          <a:latin typeface="Helvetica Neue"/>
                        </a:rPr>
                        <a:t>video</a:t>
                      </a:r>
                    </a:p>
                  </a:txBody>
                  <a:tcPr>
                    <a:solidFill>
                      <a:srgbClr val="2B364B"/>
                    </a:solidFill>
                  </a:tcPr>
                </a:tc>
                <a:tc>
                  <a:txBody>
                    <a:bodyPr/>
                    <a:lstStyle/>
                    <a:p>
                      <a:r>
                        <a:rPr sz="1100" b="1">
                          <a:solidFill>
                            <a:srgbClr val="FFFFFF"/>
                          </a:solidFill>
                          <a:latin typeface="Helvetica Neue"/>
                        </a:rPr>
                        <a:t>abstain</a:t>
                      </a:r>
                    </a:p>
                  </a:txBody>
                  <a:tcPr>
                    <a:solidFill>
                      <a:srgbClr val="2B364B"/>
                    </a:solidFill>
                  </a:tcPr>
                </a:tc>
              </a:tr>
              <a:tr h="219456">
                <a:tc>
                  <a:txBody>
                    <a:bodyPr/>
                    <a:lstStyle/>
                    <a:p>
                      <a:r>
                        <a:rPr sz="1100" b="1">
                          <a:solidFill>
                            <a:srgbClr val="0B1017"/>
                          </a:solidFill>
                          <a:latin typeface="Helvetica Neue"/>
                        </a:rPr>
                        <a:t>dns</a:t>
                      </a:r>
                    </a:p>
                  </a:txBody>
                  <a:tcPr>
                    <a:solidFill>
                      <a:srgbClr val="FFFFFF"/>
                    </a:solidFill>
                  </a:tcPr>
                </a:tc>
                <a:tc>
                  <a:txBody>
                    <a:bodyPr/>
                    <a:lstStyle/>
                    <a:p>
                      <a:r>
                        <a:rPr sz="1100" b="0">
                          <a:solidFill>
                            <a:srgbClr val="0B1017"/>
                          </a:solidFill>
                          <a:latin typeface="Helvetica Neue"/>
                        </a:rPr>
                        <a:t>0</a:t>
                      </a:r>
                    </a:p>
                  </a:txBody>
                  <a:tcPr>
                    <a:solidFill>
                      <a:srgbClr val="FFFFFF"/>
                    </a:solidFill>
                  </a:tcPr>
                </a:tc>
                <a:tc>
                  <a:txBody>
                    <a:bodyPr/>
                    <a:lstStyle/>
                    <a:p>
                      <a:r>
                        <a:rPr sz="1100" b="0">
                          <a:solidFill>
                            <a:srgbClr val="0B1017"/>
                          </a:solidFill>
                          <a:latin typeface="Helvetica Neue"/>
                        </a:rPr>
                        <a:t>1</a:t>
                      </a:r>
                    </a:p>
                  </a:txBody>
                  <a:tcPr>
                    <a:solidFill>
                      <a:srgbClr val="FFFFFF"/>
                    </a:solidFill>
                  </a:tcPr>
                </a:tc>
                <a:tc>
                  <a:txBody>
                    <a:bodyPr/>
                    <a:lstStyle/>
                    <a:p>
                      <a:r>
                        <a:rPr sz="1100" b="0">
                          <a:solidFill>
                            <a:srgbClr val="0B1017"/>
                          </a:solidFill>
                          <a:latin typeface="Helvetica Neue"/>
                        </a:rPr>
                        <a:t>0</a:t>
                      </a:r>
                    </a:p>
                  </a:txBody>
                  <a:tcPr>
                    <a:solidFill>
                      <a:srgbClr val="FFFFFF"/>
                    </a:solidFill>
                  </a:tcPr>
                </a:tc>
                <a:tc>
                  <a:txBody>
                    <a:bodyPr/>
                    <a:lstStyle/>
                    <a:p>
                      <a:r>
                        <a:rPr sz="1100" b="0">
                          <a:solidFill>
                            <a:srgbClr val="0B1017"/>
                          </a:solidFill>
                          <a:latin typeface="Helvetica Neue"/>
                        </a:rPr>
                        <a:t>5</a:t>
                      </a:r>
                    </a:p>
                  </a:txBody>
                  <a:tcPr>
                    <a:solidFill>
                      <a:srgbClr val="FFFFFF"/>
                    </a:solidFill>
                  </a:tcPr>
                </a:tc>
                <a:tc>
                  <a:txBody>
                    <a:bodyPr/>
                    <a:lstStyle/>
                    <a:p>
                      <a:r>
                        <a:rPr sz="1100" b="0">
                          <a:solidFill>
                            <a:srgbClr val="0B1017"/>
                          </a:solidFill>
                          <a:latin typeface="Helvetica Neue"/>
                        </a:rPr>
                        <a:t>2</a:t>
                      </a:r>
                    </a:p>
                  </a:txBody>
                  <a:tcPr>
                    <a:solidFill>
                      <a:srgbClr val="FFFFFF"/>
                    </a:solidFill>
                  </a:tcPr>
                </a:tc>
              </a:tr>
              <a:tr h="219456">
                <a:tc>
                  <a:txBody>
                    <a:bodyPr/>
                    <a:lstStyle/>
                    <a:p>
                      <a:r>
                        <a:rPr sz="1100" b="1">
                          <a:solidFill>
                            <a:srgbClr val="0B1017"/>
                          </a:solidFill>
                          <a:latin typeface="Helvetica Neue"/>
                        </a:rPr>
                        <a:t>icmp-bulk</a:t>
                      </a:r>
                    </a:p>
                  </a:txBody>
                  <a:tcPr>
                    <a:solidFill>
                      <a:srgbClr val="EEF2F6"/>
                    </a:solidFill>
                  </a:tcPr>
                </a:tc>
                <a:tc>
                  <a:txBody>
                    <a:bodyPr/>
                    <a:lstStyle/>
                    <a:p>
                      <a:r>
                        <a:rPr sz="1100" b="0">
                          <a:solidFill>
                            <a:srgbClr val="0B1017"/>
                          </a:solidFill>
                          <a:latin typeface="Helvetica Neue"/>
                        </a:rPr>
                        <a:t>1</a:t>
                      </a:r>
                    </a:p>
                  </a:txBody>
                  <a:tcPr>
                    <a:solidFill>
                      <a:srgbClr val="EEF2F6"/>
                    </a:solidFill>
                  </a:tcPr>
                </a:tc>
                <a:tc>
                  <a:txBody>
                    <a:bodyPr/>
                    <a:lstStyle/>
                    <a:p>
                      <a:r>
                        <a:rPr sz="1100" b="0">
                          <a:solidFill>
                            <a:srgbClr val="0B1017"/>
                          </a:solidFill>
                          <a:latin typeface="Helvetica Neue"/>
                        </a:rPr>
                        <a:t>87</a:t>
                      </a:r>
                    </a:p>
                  </a:txBody>
                  <a:tcPr>
                    <a:solidFill>
                      <a:srgbClr val="EEF2F6"/>
                    </a:solidFill>
                  </a:tcPr>
                </a:tc>
                <a:tc>
                  <a:txBody>
                    <a:bodyPr/>
                    <a:lstStyle/>
                    <a:p>
                      <a:r>
                        <a:rPr sz="1100" b="0">
                          <a:solidFill>
                            <a:srgbClr val="0B1017"/>
                          </a:solidFill>
                          <a:latin typeface="Helvetica Neue"/>
                        </a:rPr>
                        <a:t>23</a:t>
                      </a:r>
                    </a:p>
                  </a:txBody>
                  <a:tcPr>
                    <a:solidFill>
                      <a:srgbClr val="EEF2F6"/>
                    </a:solidFill>
                  </a:tcPr>
                </a:tc>
                <a:tc>
                  <a:txBody>
                    <a:bodyPr/>
                    <a:lstStyle/>
                    <a:p>
                      <a:r>
                        <a:rPr sz="1100" b="0">
                          <a:solidFill>
                            <a:srgbClr val="0B1017"/>
                          </a:solidFill>
                          <a:latin typeface="Helvetica Neue"/>
                        </a:rPr>
                        <a:t>15</a:t>
                      </a:r>
                    </a:p>
                  </a:txBody>
                  <a:tcPr>
                    <a:solidFill>
                      <a:srgbClr val="EEF2F6"/>
                    </a:solidFill>
                  </a:tcPr>
                </a:tc>
                <a:tc>
                  <a:txBody>
                    <a:bodyPr/>
                    <a:lstStyle/>
                    <a:p>
                      <a:r>
                        <a:rPr sz="1100" b="0">
                          <a:solidFill>
                            <a:srgbClr val="0B1017"/>
                          </a:solidFill>
                          <a:latin typeface="Helvetica Neue"/>
                        </a:rPr>
                        <a:t>2</a:t>
                      </a:r>
                    </a:p>
                  </a:txBody>
                  <a:tcPr>
                    <a:solidFill>
                      <a:srgbClr val="EEF2F6"/>
                    </a:solidFill>
                  </a:tcPr>
                </a:tc>
              </a:tr>
              <a:tr h="219456">
                <a:tc>
                  <a:txBody>
                    <a:bodyPr/>
                    <a:lstStyle/>
                    <a:p>
                      <a:r>
                        <a:rPr sz="1100" b="1">
                          <a:solidFill>
                            <a:srgbClr val="0B1017"/>
                          </a:solidFill>
                          <a:latin typeface="Helvetica Neue"/>
                        </a:rPr>
                        <a:t>icmp-interactive</a:t>
                      </a:r>
                    </a:p>
                  </a:txBody>
                  <a:tcPr>
                    <a:solidFill>
                      <a:srgbClr val="FFFFFF"/>
                    </a:solidFill>
                  </a:tcPr>
                </a:tc>
                <a:tc>
                  <a:txBody>
                    <a:bodyPr/>
                    <a:lstStyle/>
                    <a:p>
                      <a:r>
                        <a:rPr sz="1100" b="0">
                          <a:solidFill>
                            <a:srgbClr val="0B1017"/>
                          </a:solidFill>
                          <a:latin typeface="Helvetica Neue"/>
                        </a:rPr>
                        <a:t>0</a:t>
                      </a:r>
                    </a:p>
                  </a:txBody>
                  <a:tcPr>
                    <a:solidFill>
                      <a:srgbClr val="FFFFFF"/>
                    </a:solidFill>
                  </a:tcPr>
                </a:tc>
                <a:tc>
                  <a:txBody>
                    <a:bodyPr/>
                    <a:lstStyle/>
                    <a:p>
                      <a:r>
                        <a:rPr sz="1100" b="0">
                          <a:solidFill>
                            <a:srgbClr val="0B1017"/>
                          </a:solidFill>
                          <a:latin typeface="Helvetica Neue"/>
                        </a:rPr>
                        <a:t>14</a:t>
                      </a:r>
                    </a:p>
                  </a:txBody>
                  <a:tcPr>
                    <a:solidFill>
                      <a:srgbClr val="FFFFFF"/>
                    </a:solidFill>
                  </a:tcPr>
                </a:tc>
                <a:tc>
                  <a:txBody>
                    <a:bodyPr/>
                    <a:lstStyle/>
                    <a:p>
                      <a:r>
                        <a:rPr sz="1100" b="0">
                          <a:solidFill>
                            <a:srgbClr val="0B1017"/>
                          </a:solidFill>
                          <a:latin typeface="Helvetica Neue"/>
                        </a:rPr>
                        <a:t>106</a:t>
                      </a:r>
                    </a:p>
                  </a:txBody>
                  <a:tcPr>
                    <a:solidFill>
                      <a:srgbClr val="FFFFFF"/>
                    </a:solidFill>
                  </a:tcPr>
                </a:tc>
                <a:tc>
                  <a:txBody>
                    <a:bodyPr/>
                    <a:lstStyle/>
                    <a:p>
                      <a:r>
                        <a:rPr sz="1100" b="0">
                          <a:solidFill>
                            <a:srgbClr val="0B1017"/>
                          </a:solidFill>
                          <a:latin typeface="Helvetica Neue"/>
                        </a:rPr>
                        <a:t>0</a:t>
                      </a:r>
                    </a:p>
                  </a:txBody>
                  <a:tcPr>
                    <a:solidFill>
                      <a:srgbClr val="FFFFFF"/>
                    </a:solidFill>
                  </a:tcPr>
                </a:tc>
                <a:tc>
                  <a:txBody>
                    <a:bodyPr/>
                    <a:lstStyle/>
                    <a:p>
                      <a:r>
                        <a:rPr sz="1100" b="0">
                          <a:solidFill>
                            <a:srgbClr val="0B1017"/>
                          </a:solidFill>
                          <a:latin typeface="Helvetica Neue"/>
                        </a:rPr>
                        <a:t>1</a:t>
                      </a:r>
                    </a:p>
                  </a:txBody>
                  <a:tcPr>
                    <a:solidFill>
                      <a:srgbClr val="FFFFFF"/>
                    </a:solidFill>
                  </a:tcPr>
                </a:tc>
              </a:tr>
              <a:tr h="219456">
                <a:tc>
                  <a:txBody>
                    <a:bodyPr/>
                    <a:lstStyle/>
                    <a:p>
                      <a:r>
                        <a:rPr sz="1100" b="1">
                          <a:solidFill>
                            <a:srgbClr val="0B1017"/>
                          </a:solidFill>
                          <a:latin typeface="Helvetica Neue"/>
                        </a:rPr>
                        <a:t>video</a:t>
                      </a:r>
                    </a:p>
                  </a:txBody>
                  <a:tcPr>
                    <a:solidFill>
                      <a:srgbClr val="EEF2F6"/>
                    </a:solidFill>
                  </a:tcPr>
                </a:tc>
                <a:tc>
                  <a:txBody>
                    <a:bodyPr/>
                    <a:lstStyle/>
                    <a:p>
                      <a:r>
                        <a:rPr sz="1100" b="0">
                          <a:solidFill>
                            <a:srgbClr val="0B1017"/>
                          </a:solidFill>
                          <a:latin typeface="Helvetica Neue"/>
                        </a:rPr>
                        <a:t>3</a:t>
                      </a:r>
                    </a:p>
                  </a:txBody>
                  <a:tcPr>
                    <a:solidFill>
                      <a:srgbClr val="EEF2F6"/>
                    </a:solidFill>
                  </a:tcPr>
                </a:tc>
                <a:tc>
                  <a:txBody>
                    <a:bodyPr/>
                    <a:lstStyle/>
                    <a:p>
                      <a:r>
                        <a:rPr sz="1100" b="0">
                          <a:solidFill>
                            <a:srgbClr val="0B1017"/>
                          </a:solidFill>
                          <a:latin typeface="Helvetica Neue"/>
                        </a:rPr>
                        <a:t>19</a:t>
                      </a:r>
                    </a:p>
                  </a:txBody>
                  <a:tcPr>
                    <a:solidFill>
                      <a:srgbClr val="EEF2F6"/>
                    </a:solidFill>
                  </a:tcPr>
                </a:tc>
                <a:tc>
                  <a:txBody>
                    <a:bodyPr/>
                    <a:lstStyle/>
                    <a:p>
                      <a:r>
                        <a:rPr sz="1100" b="0">
                          <a:solidFill>
                            <a:srgbClr val="0B1017"/>
                          </a:solidFill>
                          <a:latin typeface="Helvetica Neue"/>
                        </a:rPr>
                        <a:t>0</a:t>
                      </a:r>
                    </a:p>
                  </a:txBody>
                  <a:tcPr>
                    <a:solidFill>
                      <a:srgbClr val="EEF2F6"/>
                    </a:solidFill>
                  </a:tcPr>
                </a:tc>
                <a:tc>
                  <a:txBody>
                    <a:bodyPr/>
                    <a:lstStyle/>
                    <a:p>
                      <a:r>
                        <a:rPr sz="1100" b="0">
                          <a:solidFill>
                            <a:srgbClr val="0B1017"/>
                          </a:solidFill>
                          <a:latin typeface="Helvetica Neue"/>
                        </a:rPr>
                        <a:t>15</a:t>
                      </a:r>
                    </a:p>
                  </a:txBody>
                  <a:tcPr>
                    <a:solidFill>
                      <a:srgbClr val="EEF2F6"/>
                    </a:solidFill>
                  </a:tcPr>
                </a:tc>
                <a:tc>
                  <a:txBody>
                    <a:bodyPr/>
                    <a:lstStyle/>
                    <a:p>
                      <a:r>
                        <a:rPr sz="1100" b="0">
                          <a:solidFill>
                            <a:srgbClr val="0B1017"/>
                          </a:solidFill>
                          <a:latin typeface="Helvetica Neue"/>
                        </a:rPr>
                        <a:t>3</a:t>
                      </a:r>
                    </a:p>
                  </a:txBody>
                  <a:tcPr>
                    <a:solidFill>
                      <a:srgbClr val="EEF2F6"/>
                    </a:solidFill>
                  </a:tcPr>
                </a:tc>
              </a:tr>
              <a:tr h="219456">
                <a:tc>
                  <a:txBody>
                    <a:bodyPr/>
                    <a:lstStyle/>
                    <a:p>
                      <a:r>
                        <a:rPr sz="1100" b="1">
                          <a:solidFill>
                            <a:srgbClr val="0B1017"/>
                          </a:solidFill>
                          <a:latin typeface="Helvetica Neue"/>
                        </a:rPr>
                        <a:t>abstain</a:t>
                      </a:r>
                    </a:p>
                  </a:txBody>
                  <a:tcPr>
                    <a:solidFill>
                      <a:srgbClr val="FFFFFF"/>
                    </a:solidFill>
                  </a:tcPr>
                </a:tc>
                <a:tc>
                  <a:txBody>
                    <a:bodyPr/>
                    <a:lstStyle/>
                    <a:p>
                      <a:r>
                        <a:rPr sz="1100" b="0">
                          <a:solidFill>
                            <a:srgbClr val="0B1017"/>
                          </a:solidFill>
                          <a:latin typeface="Helvetica Neue"/>
                        </a:rPr>
                        <a:t>0</a:t>
                      </a:r>
                    </a:p>
                  </a:txBody>
                  <a:tcPr>
                    <a:solidFill>
                      <a:srgbClr val="FFFFFF"/>
                    </a:solidFill>
                  </a:tcPr>
                </a:tc>
                <a:tc>
                  <a:txBody>
                    <a:bodyPr/>
                    <a:lstStyle/>
                    <a:p>
                      <a:r>
                        <a:rPr sz="1100" b="0">
                          <a:solidFill>
                            <a:srgbClr val="0B1017"/>
                          </a:solidFill>
                          <a:latin typeface="Helvetica Neue"/>
                        </a:rPr>
                        <a:t>0</a:t>
                      </a:r>
                    </a:p>
                  </a:txBody>
                  <a:tcPr>
                    <a:solidFill>
                      <a:srgbClr val="FFFFFF"/>
                    </a:solidFill>
                  </a:tcPr>
                </a:tc>
                <a:tc>
                  <a:txBody>
                    <a:bodyPr/>
                    <a:lstStyle/>
                    <a:p>
                      <a:r>
                        <a:rPr sz="1100" b="0">
                          <a:solidFill>
                            <a:srgbClr val="0B1017"/>
                          </a:solidFill>
                          <a:latin typeface="Helvetica Neue"/>
                        </a:rPr>
                        <a:t>0</a:t>
                      </a:r>
                    </a:p>
                  </a:txBody>
                  <a:tcPr>
                    <a:solidFill>
                      <a:srgbClr val="FFFFFF"/>
                    </a:solidFill>
                  </a:tcPr>
                </a:tc>
                <a:tc>
                  <a:txBody>
                    <a:bodyPr/>
                    <a:lstStyle/>
                    <a:p>
                      <a:r>
                        <a:rPr sz="1100" b="0">
                          <a:solidFill>
                            <a:srgbClr val="0B1017"/>
                          </a:solidFill>
                          <a:latin typeface="Helvetica Neue"/>
                        </a:rPr>
                        <a:t>0</a:t>
                      </a:r>
                    </a:p>
                  </a:txBody>
                  <a:tcPr>
                    <a:solidFill>
                      <a:srgbClr val="FFFFFF"/>
                    </a:solidFill>
                  </a:tcPr>
                </a:tc>
                <a:tc>
                  <a:txBody>
                    <a:bodyPr/>
                    <a:lstStyle/>
                    <a:p>
                      <a:r>
                        <a:rPr sz="1100" b="0">
                          <a:solidFill>
                            <a:srgbClr val="0B1017"/>
                          </a:solidFill>
                          <a:latin typeface="Helvetica Neue"/>
                        </a:rPr>
                        <a:t>0</a:t>
                      </a:r>
                    </a:p>
                  </a:txBody>
                  <a:tcPr>
                    <a:solidFill>
                      <a:srgbClr val="FFFFFF"/>
                    </a:solidFill>
                  </a:tcPr>
                </a:tc>
              </a:tr>
            </a:tbl>
          </a:graphicData>
        </a:graphic>
      </p:graphicFrame>
      <p:sp>
        <p:nvSpPr>
          <p:cNvPr id="7" name="TextBox 6"/>
          <p:cNvSpPr txBox="1"/>
          <p:nvPr/>
        </p:nvSpPr>
        <p:spPr>
          <a:xfrm>
            <a:off x="731520" y="6355080"/>
            <a:ext cx="10698480" cy="457200"/>
          </a:xfrm>
          <a:prstGeom prst="rect">
            <a:avLst/>
          </a:prstGeom>
          <a:noFill/>
        </p:spPr>
        <p:txBody>
          <a:bodyPr wrap="square">
            <a:spAutoFit/>
          </a:bodyPr>
          <a:lstStyle/>
          <a:p>
            <a:pPr algn="l">
              <a:spcAft>
                <a:spcPts val="0"/>
              </a:spcAft>
            </a:pPr>
            <a:r>
              <a:rPr sz="1200" b="0">
                <a:solidFill>
                  <a:srgbClr val="5A677B"/>
                </a:solidFill>
                <a:latin typeface="Helvetica Neue"/>
              </a:rPr>
              <a:t>The last column is the model declining to answer. The bottom row is that it never claimed to be sure when it was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31520" y="502920"/>
            <a:ext cx="10698480" cy="640080"/>
          </a:xfrm>
          <a:prstGeom prst="rect">
            <a:avLst/>
          </a:prstGeom>
          <a:noFill/>
        </p:spPr>
        <p:txBody>
          <a:bodyPr wrap="square">
            <a:spAutoFit/>
          </a:bodyPr>
          <a:lstStyle/>
          <a:p>
            <a:pPr algn="l">
              <a:spcAft>
                <a:spcPts val="0"/>
              </a:spcAft>
            </a:pPr>
            <a:r>
              <a:rPr sz="3000" b="1">
                <a:solidFill>
                  <a:srgbClr val="0B1017"/>
                </a:solidFill>
                <a:latin typeface="Helvetica Neue"/>
              </a:rPr>
              <a:t>It finds what configuration review would miss</a:t>
            </a:r>
          </a:p>
        </p:txBody>
      </p:sp>
      <p:sp>
        <p:nvSpPr>
          <p:cNvPr id="3" name="Rectangle 2"/>
          <p:cNvSpPr/>
          <p:nvPr/>
        </p:nvSpPr>
        <p:spPr>
          <a:xfrm>
            <a:off x="731520" y="1097280"/>
            <a:ext cx="1463040" cy="38100"/>
          </a:xfrm>
          <a:prstGeom prst="rect">
            <a:avLst/>
          </a:prstGeom>
          <a:solidFill>
            <a:srgbClr val="D6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212080" cy="4206240"/>
          </a:xfrm>
          <a:prstGeom prst="rect">
            <a:avLst/>
          </a:prstGeom>
          <a:noFill/>
        </p:spPr>
        <p:txBody>
          <a:bodyPr wrap="square">
            <a:spAutoFit/>
          </a:bodyPr>
          <a:lstStyle/>
          <a:p>
            <a:pPr algn="l">
              <a:spcAft>
                <a:spcPts val="800"/>
              </a:spcAft>
            </a:pPr>
            <a:r>
              <a:rPr sz="1700" b="1">
                <a:solidFill>
                  <a:srgbClr val="0B1017"/>
                </a:solidFill>
                <a:latin typeface="Helvetica Neue"/>
              </a:rPr>
              <a:t>Worked example — the IKEv1 tunnel</a:t>
            </a:r>
          </a:p>
          <a:p>
            <a:pPr algn="l">
              <a:spcAft>
                <a:spcPts val="800"/>
              </a:spcAft>
            </a:pPr>
            <a:r>
              <a:rPr sz="1300" b="0">
                <a:solidFill>
                  <a:srgbClr val="2B364B"/>
                </a:solidFill>
                <a:latin typeface="Helvetica Neue"/>
              </a:rPr>
              <a:t>Aggressive Mode put the gateway identity on the wire in the very first packet, unauthenticated. The proposal that carried it also asked for 3DES and a 1024-bit MODP group.</a:t>
            </a:r>
          </a:p>
          <a:p>
            <a:pPr algn="l">
              <a:spcAft>
                <a:spcPts val="800"/>
              </a:spcAft>
            </a:pPr>
            <a:r>
              <a:rPr sz="1300" b="0">
                <a:solidFill>
                  <a:srgbClr val="2B364B"/>
                </a:solidFill>
                <a:latin typeface="Helvetica Neue"/>
              </a:rPr>
              <a:t>The peer never accepted the proposal, so no tunnel came up. The engine reports that refusal as a critical fact and scores the capture 0, rather than grading an association that does not exist.</a:t>
            </a:r>
          </a:p>
          <a:p>
            <a:pPr algn="l">
              <a:spcAft>
                <a:spcPts val="0"/>
              </a:spcAft>
            </a:pPr>
            <a:r>
              <a:rPr sz="1300" b="1">
                <a:solidFill>
                  <a:srgbClr val="0B1017"/>
                </a:solidFill>
                <a:latin typeface="Helvetica Neue"/>
              </a:rPr>
              <a:t>Findings carry the packet number they were read from.</a:t>
            </a:r>
          </a:p>
        </p:txBody>
      </p:sp>
      <p:sp>
        <p:nvSpPr>
          <p:cNvPr id="5" name="TextBox 4"/>
          <p:cNvSpPr txBox="1"/>
          <p:nvPr/>
        </p:nvSpPr>
        <p:spPr>
          <a:xfrm>
            <a:off x="6309360" y="1463040"/>
            <a:ext cx="5120640" cy="4206240"/>
          </a:xfrm>
          <a:prstGeom prst="rect">
            <a:avLst/>
          </a:prstGeom>
          <a:noFill/>
        </p:spPr>
        <p:txBody>
          <a:bodyPr wrap="square">
            <a:spAutoFit/>
          </a:bodyPr>
          <a:lstStyle/>
          <a:p>
            <a:pPr algn="l">
              <a:spcAft>
                <a:spcPts val="1000"/>
              </a:spcAft>
            </a:pPr>
            <a:r>
              <a:rPr sz="1700" b="1">
                <a:solidFill>
                  <a:srgbClr val="0B1017"/>
                </a:solidFill>
                <a:latin typeface="Helvetica Neue"/>
              </a:rPr>
              <a:t>Across the corpus</a:t>
            </a:r>
          </a:p>
          <a:p>
            <a:pPr algn="l">
              <a:spcAft>
                <a:spcPts val="500"/>
              </a:spcAft>
            </a:pPr>
            <a:r>
              <a:rPr sz="1400" b="0">
                <a:solidFill>
                  <a:srgbClr val="D62B2B"/>
                </a:solidFill>
                <a:latin typeface="Helvetica Neue"/>
              </a:rPr>
              <a:t>MODP-1024 key exchange, critical</a:t>
            </a:r>
          </a:p>
          <a:p>
            <a:pPr algn="l">
              <a:spcAft>
                <a:spcPts val="500"/>
              </a:spcAft>
            </a:pPr>
            <a:r>
              <a:rPr sz="1400" b="0">
                <a:solidFill>
                  <a:srgbClr val="D62B2B"/>
                </a:solidFill>
                <a:latin typeface="Helvetica Neue"/>
              </a:rPr>
              <a:t>IKEv1 Aggressive Mode, critical</a:t>
            </a:r>
          </a:p>
          <a:p>
            <a:pPr algn="l">
              <a:spcAft>
                <a:spcPts val="500"/>
              </a:spcAft>
            </a:pPr>
            <a:r>
              <a:rPr sz="1400" b="0">
                <a:solidFill>
                  <a:srgbClr val="D62B2B"/>
                </a:solidFill>
                <a:latin typeface="Helvetica Neue"/>
              </a:rPr>
              <a:t>3DES, the SWEET32 birthday bound</a:t>
            </a:r>
          </a:p>
          <a:p>
            <a:pPr algn="l">
              <a:spcAft>
                <a:spcPts val="500"/>
              </a:spcAft>
            </a:pPr>
            <a:r>
              <a:rPr sz="1400" b="0">
                <a:solidFill>
                  <a:srgbClr val="D62B2B"/>
                </a:solidFill>
                <a:latin typeface="Helvetica Neue"/>
              </a:rPr>
              <a:t>NULL encryption, no confidentiality at all</a:t>
            </a:r>
          </a:p>
          <a:p>
            <a:pPr algn="l">
              <a:spcAft>
                <a:spcPts val="500"/>
              </a:spcAft>
            </a:pPr>
            <a:r>
              <a:rPr sz="1400" b="0">
                <a:solidFill>
                  <a:srgbClr val="2B364B"/>
                </a:solidFill>
                <a:latin typeface="Helvetica Neue"/>
              </a:rPr>
              <a:t>SHA-1 integrity and PRF, demoted to MUST-</a:t>
            </a:r>
          </a:p>
          <a:p>
            <a:pPr algn="l">
              <a:spcAft>
                <a:spcPts val="1200"/>
              </a:spcAft>
            </a:pPr>
            <a:r>
              <a:rPr sz="1400" b="0">
                <a:solidFill>
                  <a:srgbClr val="2B364B"/>
                </a:solidFill>
                <a:latin typeface="Helvetica Neue"/>
              </a:rPr>
              <a:t>Harvest now, decrypt later, ranked by key exchange</a:t>
            </a:r>
          </a:p>
          <a:p>
            <a:pPr algn="l">
              <a:spcAft>
                <a:spcPts val="0"/>
              </a:spcAft>
            </a:pPr>
            <a:r>
              <a:rPr sz="1200" b="0">
                <a:solidFill>
                  <a:srgbClr val="5A677B"/>
                </a:solidFill>
                <a:latin typeface="Helvetica Neue"/>
              </a:rPr>
              <a:t>Each is a rule bound to a citation, not a model's opinion.</a:t>
            </a:r>
          </a:p>
        </p:txBody>
      </p:sp>
      <p:sp>
        <p:nvSpPr>
          <p:cNvPr id="6" name="Rectangle 5"/>
          <p:cNvSpPr/>
          <p:nvPr/>
        </p:nvSpPr>
        <p:spPr>
          <a:xfrm>
            <a:off x="731520" y="4206240"/>
            <a:ext cx="10698480" cy="12700"/>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434840"/>
            <a:ext cx="10698480" cy="1828800"/>
          </a:xfrm>
          <a:prstGeom prst="rect">
            <a:avLst/>
          </a:prstGeom>
          <a:noFill/>
        </p:spPr>
        <p:txBody>
          <a:bodyPr wrap="square">
            <a:spAutoFit/>
          </a:bodyPr>
          <a:lstStyle/>
          <a:p>
            <a:pPr algn="l">
              <a:spcAft>
                <a:spcPts val="600"/>
              </a:spcAft>
            </a:pPr>
            <a:r>
              <a:rPr sz="1100" b="1">
                <a:solidFill>
                  <a:srgbClr val="5A677B"/>
                </a:solidFill>
                <a:latin typeface="Helvetica Neue"/>
              </a:rPr>
              <a:t>VYU-002  ·  CRITICAL  ·  read from packet #1</a:t>
            </a:r>
          </a:p>
          <a:p>
            <a:pPr algn="l">
              <a:spcAft>
                <a:spcPts val="600"/>
              </a:spcAft>
            </a:pPr>
            <a:r>
              <a:rPr sz="1500" b="1">
                <a:solidFill>
                  <a:srgbClr val="D62B2B"/>
                </a:solidFill>
                <a:latin typeface="Helvetica Neue"/>
              </a:rPr>
              <a:t>IKEv1 Aggressive Mode sends the peer identity in the clear</a:t>
            </a:r>
          </a:p>
          <a:p>
            <a:pPr algn="l">
              <a:spcAft>
                <a:spcPts val="600"/>
              </a:spcAft>
            </a:pPr>
            <a:r>
              <a:rPr sz="1300" b="0">
                <a:solidFill>
                  <a:srgbClr val="2B364B"/>
                </a:solidFill>
                <a:latin typeface="Helvetica Neue"/>
              </a:rPr>
              <a:t>Aggressive Mode puts the identity and the hash on the wire unprotected, so a passive observer learns who peers with whom, and the pre-shared key becomes offline-crackable.</a:t>
            </a:r>
          </a:p>
          <a:p>
            <a:pPr algn="l">
              <a:spcAft>
                <a:spcPts val="0"/>
              </a:spcAft>
            </a:pPr>
            <a:r>
              <a:rPr sz="1200" b="0">
                <a:solidFill>
                  <a:srgbClr val="1F8A8A"/>
                </a:solidFill>
                <a:latin typeface="Helvetica Neue"/>
              </a:rPr>
              <a:t>Standard: RFC 2407 §4.1; CVE-2018-5389 — IKEv1 PSK is offline-crackable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31520" y="502920"/>
            <a:ext cx="10698480" cy="640080"/>
          </a:xfrm>
          <a:prstGeom prst="rect">
            <a:avLst/>
          </a:prstGeom>
          <a:noFill/>
        </p:spPr>
        <p:txBody>
          <a:bodyPr wrap="square">
            <a:spAutoFit/>
          </a:bodyPr>
          <a:lstStyle/>
          <a:p>
            <a:pPr algn="l">
              <a:spcAft>
                <a:spcPts val="0"/>
              </a:spcAft>
            </a:pPr>
            <a:r>
              <a:rPr sz="3000" b="1">
                <a:solidFill>
                  <a:srgbClr val="0B1017"/>
                </a:solidFill>
                <a:latin typeface="Helvetica Neue"/>
              </a:rPr>
              <a:t>Every claim is checkable, and the limits are stated</a:t>
            </a:r>
          </a:p>
        </p:txBody>
      </p:sp>
      <p:sp>
        <p:nvSpPr>
          <p:cNvPr id="3" name="Rectangle 2"/>
          <p:cNvSpPr/>
          <p:nvPr/>
        </p:nvSpPr>
        <p:spPr>
          <a:xfrm>
            <a:off x="731520" y="1097280"/>
            <a:ext cx="1463040" cy="381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212080" cy="4389120"/>
          </a:xfrm>
          <a:prstGeom prst="rect">
            <a:avLst/>
          </a:prstGeom>
          <a:noFill/>
        </p:spPr>
        <p:txBody>
          <a:bodyPr wrap="square">
            <a:spAutoFit/>
          </a:bodyPr>
          <a:lstStyle/>
          <a:p>
            <a:pPr algn="l">
              <a:spcAft>
                <a:spcPts val="800"/>
              </a:spcAft>
            </a:pPr>
            <a:r>
              <a:rPr sz="1700" b="1">
                <a:solidFill>
                  <a:srgbClr val="0B1017"/>
                </a:solidFill>
                <a:latin typeface="Helvetica Neue"/>
              </a:rPr>
              <a:t>Evidence ledger</a:t>
            </a:r>
          </a:p>
          <a:p>
            <a:pPr algn="l">
              <a:spcAft>
                <a:spcPts val="800"/>
              </a:spcAft>
            </a:pPr>
            <a:r>
              <a:rPr sz="1300" b="0">
                <a:solidFill>
                  <a:srgbClr val="2B364B"/>
                </a:solidFill>
                <a:latin typeface="Helvetica Neue"/>
              </a:rPr>
              <a:t>Findings are deduplicated across Security Associations and carry an occurrence count, so a capture with hundreds of retried handshakes does not report one fact hundreds of times.</a:t>
            </a:r>
          </a:p>
          <a:p>
            <a:pPr algn="l">
              <a:spcAft>
                <a:spcPts val="800"/>
              </a:spcAft>
            </a:pPr>
            <a:r>
              <a:rPr sz="1300" b="0">
                <a:solidFill>
                  <a:srgbClr val="2B364B"/>
                </a:solidFill>
                <a:latin typeface="Helvetica Neue"/>
              </a:rPr>
              <a:t>The capture file is hashed with SHA-256 and bound into the chain. Tamper with the pcap and the ledger stops verifying.</a:t>
            </a:r>
          </a:p>
          <a:p>
            <a:pPr algn="l">
              <a:spcAft>
                <a:spcPts val="600"/>
              </a:spcAft>
            </a:pPr>
            <a:r>
              <a:rPr sz="1700" b="1">
                <a:solidFill>
                  <a:srgbClr val="0B1017"/>
                </a:solidFill>
                <a:latin typeface="Helvetica Neue"/>
              </a:rPr>
              <a:t>Tests</a:t>
            </a:r>
          </a:p>
          <a:p>
            <a:pPr algn="l">
              <a:spcAft>
                <a:spcPts val="0"/>
              </a:spcAft>
            </a:pPr>
            <a:r>
              <a:rPr sz="1300" b="0">
                <a:solidFill>
                  <a:srgbClr val="2B364B"/>
                </a:solidFill>
                <a:latin typeface="Helvetica Neue"/>
              </a:rPr>
              <a:t>137 tests pass, including a robustness suite that feeds truncated, corrupted and randomly mangled packets to the parser, and a regression test that pins the ESP flow grouping against tcpdump.</a:t>
            </a:r>
          </a:p>
        </p:txBody>
      </p:sp>
      <p:sp>
        <p:nvSpPr>
          <p:cNvPr id="5" name="TextBox 4"/>
          <p:cNvSpPr txBox="1"/>
          <p:nvPr/>
        </p:nvSpPr>
        <p:spPr>
          <a:xfrm>
            <a:off x="6309360" y="1463040"/>
            <a:ext cx="5120640" cy="4389120"/>
          </a:xfrm>
          <a:prstGeom prst="rect">
            <a:avLst/>
          </a:prstGeom>
          <a:noFill/>
        </p:spPr>
        <p:txBody>
          <a:bodyPr wrap="square">
            <a:spAutoFit/>
          </a:bodyPr>
          <a:lstStyle/>
          <a:p>
            <a:pPr algn="l">
              <a:spcAft>
                <a:spcPts val="800"/>
              </a:spcAft>
            </a:pPr>
            <a:r>
              <a:rPr sz="1700" b="1">
                <a:solidFill>
                  <a:srgbClr val="D62B2B"/>
                </a:solidFill>
                <a:latin typeface="Helvetica Neue"/>
              </a:rPr>
              <a:t>What it refuses to claim</a:t>
            </a:r>
          </a:p>
          <a:p>
            <a:pPr algn="l">
              <a:spcAft>
                <a:spcPts val="800"/>
              </a:spcAft>
            </a:pPr>
            <a:r>
              <a:rPr sz="1300" b="0">
                <a:solidFill>
                  <a:srgbClr val="2B364B"/>
                </a:solidFill>
                <a:latin typeface="Helvetica Neue"/>
              </a:rPr>
              <a:t>If PFS state was not on the wire, the report says PFS was not observed. It does not infer it from the configuration.</a:t>
            </a:r>
          </a:p>
          <a:p>
            <a:pPr algn="l">
              <a:spcAft>
                <a:spcPts val="800"/>
              </a:spcAft>
            </a:pPr>
            <a:r>
              <a:rPr sz="1300" b="0">
                <a:solidFill>
                  <a:srgbClr val="2B364B"/>
                </a:solidFill>
                <a:latin typeface="Helvetica Neue"/>
              </a:rPr>
              <a:t>A capture with no IKE in it explains itself instead of scoring clean.</a:t>
            </a:r>
          </a:p>
          <a:p>
            <a:pPr algn="l">
              <a:spcAft>
                <a:spcPts val="800"/>
              </a:spcAft>
            </a:pPr>
            <a:r>
              <a:rPr sz="1300" b="0">
                <a:solidFill>
                  <a:srgbClr val="2B364B"/>
                </a:solidFill>
                <a:latin typeface="Helvetica Neue"/>
              </a:rPr>
              <a:t>The engine is deterministic. Where a judgement is genuinely uncertain we leave it out rather than invent a confidence number.</a:t>
            </a:r>
          </a:p>
          <a:p>
            <a:pPr algn="l">
              <a:spcAft>
                <a:spcPts val="0"/>
              </a:spcAft>
            </a:pPr>
            <a:r>
              <a:rPr sz="1300" b="0">
                <a:solidFill>
                  <a:srgbClr val="2B364B"/>
                </a:solidFill>
                <a:latin typeface="Helvetica Neue"/>
              </a:rPr>
              <a:t>The dataset card lists seven limits, including the three traffic classes that produced too few packets to label. It ships with the corpus, not in an appendix.</a:t>
            </a:r>
          </a:p>
        </p:txBody>
      </p:sp>
      <p:sp>
        <p:nvSpPr>
          <p:cNvPr id="6" name="TextBox 5"/>
          <p:cNvSpPr txBox="1"/>
          <p:nvPr/>
        </p:nvSpPr>
        <p:spPr>
          <a:xfrm>
            <a:off x="731520" y="4846320"/>
            <a:ext cx="10698480" cy="1737360"/>
          </a:xfrm>
          <a:prstGeom prst="rect">
            <a:avLst/>
          </a:prstGeom>
          <a:noFill/>
        </p:spPr>
        <p:txBody>
          <a:bodyPr wrap="square">
            <a:spAutoFit/>
          </a:bodyPr>
          <a:lstStyle/>
          <a:p>
            <a:pPr algn="l">
              <a:spcAft>
                <a:spcPts val="800"/>
              </a:spcAft>
            </a:pPr>
            <a:r>
              <a:rPr sz="1700" b="1">
                <a:solidFill>
                  <a:srgbClr val="1F8A8A"/>
                </a:solidFill>
                <a:latin typeface="Helvetica Neue"/>
              </a:rPr>
              <a:t>And the split we keep</a:t>
            </a:r>
          </a:p>
          <a:p>
            <a:pPr algn="l">
              <a:spcAft>
                <a:spcPts val="600"/>
              </a:spcAft>
            </a:pPr>
            <a:r>
              <a:rPr sz="1300" b="0">
                <a:solidFill>
                  <a:srgbClr val="2B364B"/>
                </a:solidFill>
                <a:latin typeface="Helvetica Neue"/>
              </a:rPr>
              <a:t>Every field the wire states outright is parsed. That is deterministic, it is auditable, and a rules engine does it better than a model ever will.</a:t>
            </a:r>
          </a:p>
          <a:p>
            <a:pPr algn="l">
              <a:spcAft>
                <a:spcPts val="0"/>
              </a:spcAft>
            </a:pPr>
            <a:r>
              <a:rPr sz="1300" b="0">
                <a:solidFill>
                  <a:srgbClr val="2B364B"/>
                </a:solidFill>
                <a:latin typeface="Helvetica Neue"/>
              </a:rPr>
              <a:t>Machine learning runs beside it, on the one question a parser cannot answer: what is the shape of the traffic inside a tunnel it cannot read. It reports its confidence and abstains when unsure. No security verdict depends on it, and nothing is scored by a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731520" y="960120"/>
            <a:ext cx="2011680" cy="38100"/>
          </a:xfrm>
          <a:prstGeom prst="rect">
            <a:avLst/>
          </a:prstGeom>
          <a:solidFill>
            <a:srgbClr val="D6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234440"/>
            <a:ext cx="10698480" cy="1188720"/>
          </a:xfrm>
          <a:prstGeom prst="rect">
            <a:avLst/>
          </a:prstGeom>
          <a:noFill/>
        </p:spPr>
        <p:txBody>
          <a:bodyPr wrap="square">
            <a:spAutoFit/>
          </a:bodyPr>
          <a:lstStyle/>
          <a:p>
            <a:pPr algn="l">
              <a:spcAft>
                <a:spcPts val="600"/>
              </a:spcAft>
            </a:pPr>
            <a:r>
              <a:rPr sz="3400" b="1">
                <a:solidFill>
                  <a:srgbClr val="0B1017"/>
                </a:solidFill>
                <a:latin typeface="Helvetica Neue"/>
              </a:rPr>
              <a:t>What we are asking for</a:t>
            </a:r>
          </a:p>
          <a:p>
            <a:pPr algn="l">
              <a:spcAft>
                <a:spcPts val="0"/>
              </a:spcAft>
            </a:pPr>
            <a:r>
              <a:rPr sz="1700" b="0">
                <a:solidFill>
                  <a:srgbClr val="2B364B"/>
                </a:solidFill>
                <a:latin typeface="Helvetica Neue"/>
              </a:rPr>
              <a:t>A corpus with real labelled traffic, and a path to publish it openly.</a:t>
            </a:r>
          </a:p>
        </p:txBody>
      </p:sp>
      <p:sp>
        <p:nvSpPr>
          <p:cNvPr id="4" name="TextBox 3"/>
          <p:cNvSpPr txBox="1"/>
          <p:nvPr/>
        </p:nvSpPr>
        <p:spPr>
          <a:xfrm>
            <a:off x="731520" y="2743200"/>
            <a:ext cx="5212080" cy="3108960"/>
          </a:xfrm>
          <a:prstGeom prst="rect">
            <a:avLst/>
          </a:prstGeom>
          <a:noFill/>
        </p:spPr>
        <p:txBody>
          <a:bodyPr wrap="square">
            <a:spAutoFit/>
          </a:bodyPr>
          <a:lstStyle/>
          <a:p>
            <a:pPr algn="l">
              <a:spcAft>
                <a:spcPts val="800"/>
              </a:spcAft>
            </a:pPr>
            <a:r>
              <a:rPr sz="1700" b="1">
                <a:solidFill>
                  <a:srgbClr val="D62B2B"/>
                </a:solidFill>
                <a:latin typeface="Helvetica Neue"/>
              </a:rPr>
              <a:t>The gap we hit</a:t>
            </a:r>
          </a:p>
          <a:p>
            <a:pPr algn="l">
              <a:spcAft>
                <a:spcPts val="800"/>
              </a:spcAft>
            </a:pPr>
            <a:r>
              <a:rPr sz="1300" b="0">
                <a:solidFill>
                  <a:srgbClr val="2B364B"/>
                </a:solidFill>
                <a:latin typeface="Helvetica Neue"/>
              </a:rPr>
              <a:t>There is no public dataset of IKE handshakes paired with protected traffic. We built one for ourselves, from six negotiated tunnels.</a:t>
            </a:r>
          </a:p>
          <a:p>
            <a:pPr algn="l">
              <a:spcAft>
                <a:spcPts val="800"/>
              </a:spcAft>
            </a:pPr>
            <a:r>
              <a:rPr sz="1300" b="0">
                <a:solidFill>
                  <a:srgbClr val="2B364B"/>
                </a:solidFill>
                <a:latin typeface="Helvetica Neue"/>
              </a:rPr>
              <a:t>It is small, and we say so. But it is real, reproducible with one command, and every label in it was verified against the gateway that produced it.</a:t>
            </a:r>
          </a:p>
          <a:p>
            <a:pPr algn="l">
              <a:spcAft>
                <a:spcPts val="0"/>
              </a:spcAft>
            </a:pPr>
            <a:r>
              <a:rPr sz="1300" b="1">
                <a:solidFill>
                  <a:srgbClr val="0B1017"/>
                </a:solidFill>
                <a:latin typeface="Helvetica Neue"/>
              </a:rPr>
              <a:t>Releasing it is the fastest way to make everyone else's work checkable.</a:t>
            </a:r>
          </a:p>
        </p:txBody>
      </p:sp>
      <p:sp>
        <p:nvSpPr>
          <p:cNvPr id="5" name="TextBox 4"/>
          <p:cNvSpPr txBox="1"/>
          <p:nvPr/>
        </p:nvSpPr>
        <p:spPr>
          <a:xfrm>
            <a:off x="6309360" y="2743200"/>
            <a:ext cx="5120640" cy="3108960"/>
          </a:xfrm>
          <a:prstGeom prst="rect">
            <a:avLst/>
          </a:prstGeom>
          <a:noFill/>
        </p:spPr>
        <p:txBody>
          <a:bodyPr wrap="square">
            <a:spAutoFit/>
          </a:bodyPr>
          <a:lstStyle/>
          <a:p>
            <a:pPr algn="l">
              <a:spcAft>
                <a:spcPts val="800"/>
              </a:spcAft>
            </a:pPr>
            <a:r>
              <a:rPr sz="1700" b="1">
                <a:solidFill>
                  <a:srgbClr val="1F8A8A"/>
                </a:solidFill>
                <a:latin typeface="Helvetica Neue"/>
              </a:rPr>
              <a:t>The path</a:t>
            </a:r>
          </a:p>
          <a:p>
            <a:pPr algn="l">
              <a:spcAft>
                <a:spcPts val="600"/>
              </a:spcAft>
            </a:pPr>
            <a:r>
              <a:rPr sz="1300" b="0">
                <a:solidFill>
                  <a:srgbClr val="2B364B"/>
                </a:solidFill>
                <a:latin typeface="Helvetica Neue"/>
              </a:rPr>
              <a:t>Release the corpus and a dataset card with an explicit schema and stated limits.</a:t>
            </a:r>
          </a:p>
          <a:p>
            <a:pPr algn="l">
              <a:spcAft>
                <a:spcPts val="600"/>
              </a:spcAft>
            </a:pPr>
            <a:r>
              <a:rPr sz="1300" b="0">
                <a:solidFill>
                  <a:srgbClr val="2B364B"/>
                </a:solidFill>
                <a:latin typeface="Helvetica Neue"/>
              </a:rPr>
              <a:t>Contribute it to the AIKosh open-source community as labelled IPsec negotiation data.</a:t>
            </a:r>
          </a:p>
          <a:p>
            <a:pPr algn="l">
              <a:spcAft>
                <a:spcPts val="600"/>
              </a:spcAft>
            </a:pPr>
            <a:r>
              <a:rPr sz="1300" b="0">
                <a:solidFill>
                  <a:srgbClr val="2B364B"/>
                </a:solidFill>
                <a:latin typeface="Helvetica Neue"/>
              </a:rPr>
              <a:t>Extend coverage to IPv6, transport mode and rekey-triggered PFS, so the label space is complete rather than convenient.</a:t>
            </a:r>
          </a:p>
          <a:p>
            <a:pPr algn="l">
              <a:spcAft>
                <a:spcPts val="0"/>
              </a:spcAft>
            </a:pPr>
            <a:r>
              <a:rPr sz="1300" b="1">
                <a:solidFill>
                  <a:srgbClr val="0B1017"/>
                </a:solidFill>
                <a:latin typeface="Helvetica Neue"/>
              </a:rPr>
              <a:t>Everything runs air-gapped. No cloud service, no telemetry, no account.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